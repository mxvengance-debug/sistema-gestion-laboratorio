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9" r:id="rId8"/>
    <p:sldId id="280" r:id="rId9"/>
    <p:sldId id="281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63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62" r:id="rId26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D55592-6DA7-2725-E6B1-7E330568A9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623D104-F012-503F-9152-A4311C2485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400FA1B-BB87-6948-7D6E-DE609D691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7D0C5-6DCD-4C6D-B467-B4BABE7248AB}" type="datetimeFigureOut">
              <a:rPr lang="es-MX" smtClean="0"/>
              <a:t>19/06/2026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332F2E4-82C4-C27F-56E7-19C11FEF6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AC886D2-1735-CBD1-D2FA-32EF48B97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3C72A-C188-4156-AC40-7E5905548C5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484463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D87413-9CE3-6665-A162-563ECD28A8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4B2429F-3287-FE46-C13E-8B24FF878A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4A44949-5FAA-4672-1F8D-4CD6F38B44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7D0C5-6DCD-4C6D-B467-B4BABE7248AB}" type="datetimeFigureOut">
              <a:rPr lang="es-MX" smtClean="0"/>
              <a:t>19/06/2026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30D009C-433B-4AC7-786C-FD89E31D4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FDED29B-473E-B550-5867-10D3B7315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3C72A-C188-4156-AC40-7E5905548C5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41176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66E7C8-219C-3E9D-26AA-25D50A6F3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E20A11B-9C00-B1BE-546B-F267D15724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7FCF511-F5E3-B919-0B94-E8A8FF59C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7D0C5-6DCD-4C6D-B467-B4BABE7248AB}" type="datetimeFigureOut">
              <a:rPr lang="es-MX" smtClean="0"/>
              <a:t>19/06/2026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ED237EC-CF50-61CF-EDBB-543DF1775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086AD01-4422-E1DE-8CF0-A912FA1E6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3C72A-C188-4156-AC40-7E5905548C5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737719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45E07A-5609-2975-DD84-F1718D55C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FD2CF12-33CB-2D66-B5C6-C7FD8287A8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009C86F-935B-E6AD-C511-C46A7FD2CF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C3A3234-1156-28F6-B5B5-E7DB3252A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7D0C5-6DCD-4C6D-B467-B4BABE7248AB}" type="datetimeFigureOut">
              <a:rPr lang="es-MX" smtClean="0"/>
              <a:t>19/06/2026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B1389D3-E3B4-3581-8663-75ACD88D2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429903C-AAB2-E838-86C4-49BD73393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3C72A-C188-4156-AC40-7E5905548C5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946020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F9095B-AFBC-C443-A331-55BA34771E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95FC8B2-8830-A5E9-E0AF-EF5E0C8970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B8F5138-7A1E-DCF2-E751-2B16B044D5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A2556431-2F8C-939A-4D1D-35FB72B7BD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8ED1241-A3D5-9C01-1836-EBC980C2BD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DD9BD4F9-2A6C-109C-6CA3-B928D5864E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7D0C5-6DCD-4C6D-B467-B4BABE7248AB}" type="datetimeFigureOut">
              <a:rPr lang="es-MX" smtClean="0"/>
              <a:t>19/06/2026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86B1005-BC1A-2162-1A15-5CE7CAA29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AB3EDBC-2420-B6CE-E73B-783B4663A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3C72A-C188-4156-AC40-7E5905548C5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272678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E6996A-6AB1-AD0E-ABB7-BEFFD3D4B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724D379-332B-33C3-1343-5CC2110FE6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7D0C5-6DCD-4C6D-B467-B4BABE7248AB}" type="datetimeFigureOut">
              <a:rPr lang="es-MX" smtClean="0"/>
              <a:t>19/06/2026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E790D4B-C17C-0788-0B8C-35F023158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69043A7-679C-3EFE-A89C-73507DFA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3C72A-C188-4156-AC40-7E5905548C5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085085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4F937CF-76D5-E0AD-4080-FCE8219A5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7D0C5-6DCD-4C6D-B467-B4BABE7248AB}" type="datetimeFigureOut">
              <a:rPr lang="es-MX" smtClean="0"/>
              <a:t>19/06/2026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0FA12BC-D0BE-1549-4E17-DCD775022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535C37A-FC8C-A1B0-A14A-2FD2FBA03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3C72A-C188-4156-AC40-7E5905548C5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807459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83A6C5-E6CC-2B2D-C5D8-ABC263A7F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9AF2911-0DD5-001D-1A17-B0350BA0B0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B404F0A-9B07-83A9-915E-BEBA7B2065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B556372-4F37-A4D5-91D3-32E00424C5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7D0C5-6DCD-4C6D-B467-B4BABE7248AB}" type="datetimeFigureOut">
              <a:rPr lang="es-MX" smtClean="0"/>
              <a:t>19/06/2026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880005D-4AA7-B431-50BD-223BED201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17C0C23-1BD4-2DBA-CED3-56493CCDC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3C72A-C188-4156-AC40-7E5905548C5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251633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158F3F-D995-4A7D-A752-733E15B9C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713982D0-A042-4B27-B34F-3B04EAD4B1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8DDA0A2-2DCC-ED19-1147-F688E615CE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87F60D5-0B20-A6ED-B362-5EDD8A82FF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7D0C5-6DCD-4C6D-B467-B4BABE7248AB}" type="datetimeFigureOut">
              <a:rPr lang="es-MX" smtClean="0"/>
              <a:t>19/06/2026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8793D31-5750-ECE9-553E-9557E5371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8E6E25D-2E87-2255-F3EA-D0B01CA3E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3C72A-C188-4156-AC40-7E5905548C5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981977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DA549E-110F-D874-CA7B-4741AE77A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46327F3-8DAB-2997-2829-EBDD22ECD6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B373C2A-A8FC-590D-216A-0FA756EA4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7D0C5-6DCD-4C6D-B467-B4BABE7248AB}" type="datetimeFigureOut">
              <a:rPr lang="es-MX" smtClean="0"/>
              <a:t>19/06/2026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6BFF5E5-B760-9655-4930-2808A52CD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B66F8FF-2743-B516-4E2A-A00B211C3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3C72A-C188-4156-AC40-7E5905548C5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749805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E1C4FD4-0BC1-1465-62A6-EB301B72C4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F506BB9-F688-F60D-941F-3122465AF6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3AA9DF-0145-C88F-5325-9C668D118F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7D0C5-6DCD-4C6D-B467-B4BABE7248AB}" type="datetimeFigureOut">
              <a:rPr lang="es-MX" smtClean="0"/>
              <a:t>19/06/2026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C3054E7-DBA6-F7CD-4A19-A9F082499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E8B5FE8-EB92-8BB6-AA3C-FCFE6EA88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3C72A-C188-4156-AC40-7E5905548C5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31575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914C64A-95B7-E457-EB33-DB2A8C540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A9975E4-4FB9-31A5-3C2C-C52E190059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716D560-30EF-61EC-9079-77309CCF49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B7D0C5-6DCD-4C6D-B467-B4BABE7248AB}" type="datetimeFigureOut">
              <a:rPr lang="es-MX" smtClean="0"/>
              <a:t>19/06/2026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F0AB237-4A10-ACF7-6EBD-1097292A21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C431F7C-B02C-8B0A-DB0C-6111474576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93C72A-C188-4156-AC40-7E5905548C5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321756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Administración de Bases de Datos IBM Db2 – The Inventor's House">
            <a:extLst>
              <a:ext uri="{FF2B5EF4-FFF2-40B4-BE49-F238E27FC236}">
                <a16:creationId xmlns:a16="http://schemas.microsoft.com/office/drawing/2014/main" id="{D57DAE16-B0A7-128E-6CB6-805A8DC44D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8812" y="1275588"/>
            <a:ext cx="7550572" cy="4306824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DE2D15D1-1D87-BB46-1D4B-2461A6A6431A}"/>
              </a:ext>
            </a:extLst>
          </p:cNvPr>
          <p:cNvSpPr txBox="1"/>
          <p:nvPr/>
        </p:nvSpPr>
        <p:spPr>
          <a:xfrm>
            <a:off x="-91440" y="5934670"/>
            <a:ext cx="455371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noProof="0" dirty="0"/>
              <a:t>Rojas Cervantes Octavio</a:t>
            </a:r>
          </a:p>
          <a:p>
            <a:r>
              <a:rPr lang="es-MX" noProof="0" dirty="0"/>
              <a:t>Trujano Ramos Arturo</a:t>
            </a:r>
          </a:p>
          <a:p>
            <a:r>
              <a:rPr lang="es-MX" noProof="0" dirty="0"/>
              <a:t>Davila Maya Azarel Jahdai</a:t>
            </a:r>
          </a:p>
        </p:txBody>
      </p:sp>
    </p:spTree>
    <p:extLst>
      <p:ext uri="{BB962C8B-B14F-4D97-AF65-F5344CB8AC3E}">
        <p14:creationId xmlns:p14="http://schemas.microsoft.com/office/powerpoint/2010/main" val="33094197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pic>
        <p:nvPicPr>
          <p:cNvPr id="4" name="Imagen 3" descr="IBM to acquire application modernization assets from Advanced | InfoWorld">
            <a:extLst>
              <a:ext uri="{FF2B5EF4-FFF2-40B4-BE49-F238E27FC236}">
                <a16:creationId xmlns:a16="http://schemas.microsoft.com/office/drawing/2014/main" id="{2460D549-FF33-5287-4945-97F870B6EF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0689"/>
          <a:stretch>
            <a:fillRect/>
          </a:stretch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5A8B69DC-77A3-6F9F-B4F4-583C4D48E67F}"/>
              </a:ext>
            </a:extLst>
          </p:cNvPr>
          <p:cNvSpPr txBox="1"/>
          <p:nvPr/>
        </p:nvSpPr>
        <p:spPr>
          <a:xfrm>
            <a:off x="7531610" y="2434201"/>
            <a:ext cx="3822189" cy="3742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MX" sz="2000" noProof="0"/>
              <a:t>Es un Sistema de Gestión de Bases de Datos Relacionales (RDBMS) desarrollado por la empresa IBM.</a:t>
            </a:r>
            <a:endParaRPr lang="es-MX" sz="2000" noProof="0" dirty="0"/>
          </a:p>
        </p:txBody>
      </p:sp>
    </p:spTree>
    <p:extLst>
      <p:ext uri="{BB962C8B-B14F-4D97-AF65-F5344CB8AC3E}">
        <p14:creationId xmlns:p14="http://schemas.microsoft.com/office/powerpoint/2010/main" val="1249507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pic>
        <p:nvPicPr>
          <p:cNvPr id="6" name="Picture 4" descr="Avión en círculo rojo">
            <a:extLst>
              <a:ext uri="{FF2B5EF4-FFF2-40B4-BE49-F238E27FC236}">
                <a16:creationId xmlns:a16="http://schemas.microsoft.com/office/drawing/2014/main" id="{33358EBD-C580-4395-3121-F8E2C90D089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2" r="1050" b="1"/>
          <a:stretch>
            <a:fillRect/>
          </a:stretch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4CA1E6C-0891-3EC7-0CD5-3A475E642C96}"/>
              </a:ext>
            </a:extLst>
          </p:cNvPr>
          <p:cNvSpPr txBox="1"/>
          <p:nvPr/>
        </p:nvSpPr>
        <p:spPr>
          <a:xfrm>
            <a:off x="8017385" y="2833692"/>
            <a:ext cx="3822189" cy="11906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MX" sz="2000" noProof="0" dirty="0"/>
              <a:t>Diseñado para entornos empresariales de alto rendimiento (Bancos, Aerolíneas, Retail)</a:t>
            </a:r>
          </a:p>
        </p:txBody>
      </p:sp>
    </p:spTree>
    <p:extLst>
      <p:ext uri="{BB962C8B-B14F-4D97-AF65-F5344CB8AC3E}">
        <p14:creationId xmlns:p14="http://schemas.microsoft.com/office/powerpoint/2010/main" val="12923548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9">
            <a:extLst>
              <a:ext uri="{FF2B5EF4-FFF2-40B4-BE49-F238E27FC236}">
                <a16:creationId xmlns:a16="http://schemas.microsoft.com/office/drawing/2014/main" id="{D1942232-83D0-49E2-AF9B-1F97E3C1EF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11">
            <a:extLst>
              <a:ext uri="{FF2B5EF4-FFF2-40B4-BE49-F238E27FC236}">
                <a16:creationId xmlns:a16="http://schemas.microsoft.com/office/drawing/2014/main" id="{E9E70D72-6E23-4015-A4A6-85C120C191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6" name="Group 13">
            <a:extLst>
              <a:ext uri="{FF2B5EF4-FFF2-40B4-BE49-F238E27FC236}">
                <a16:creationId xmlns:a16="http://schemas.microsoft.com/office/drawing/2014/main" id="{C28A977F-B603-4D81-B0FC-C8DE048A7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1"/>
            <a:ext cx="3362070" cy="2522848"/>
            <a:chOff x="-305" y="-1"/>
            <a:chExt cx="3832880" cy="2876136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0183CE8C-E039-4B2F-A36E-5FD5CD5DE1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3EB77281-FAB4-40D0-B3F3-264EC4AB20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15E59F3-75FC-494F-8737-5F00A4964F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3ADDCFA-B066-4D79-AB71-062E66E58F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uadroTexto 2">
            <a:extLst>
              <a:ext uri="{FF2B5EF4-FFF2-40B4-BE49-F238E27FC236}">
                <a16:creationId xmlns:a16="http://schemas.microsoft.com/office/drawing/2014/main" id="{375C693C-5B32-8903-DA8F-BC37A1BBF206}"/>
              </a:ext>
            </a:extLst>
          </p:cNvPr>
          <p:cNvSpPr txBox="1"/>
          <p:nvPr/>
        </p:nvSpPr>
        <p:spPr>
          <a:xfrm>
            <a:off x="3581247" y="2577363"/>
            <a:ext cx="5029200" cy="32276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 b="1" dirty="0">
                <a:solidFill>
                  <a:schemeClr val="tx2"/>
                </a:solidFill>
              </a:rPr>
              <a:t>El </a:t>
            </a:r>
            <a:r>
              <a:rPr lang="en-US" sz="1300" b="1" dirty="0" err="1">
                <a:solidFill>
                  <a:schemeClr val="tx2"/>
                </a:solidFill>
              </a:rPr>
              <a:t>Problema</a:t>
            </a:r>
            <a:r>
              <a:rPr lang="en-US" sz="1300" b="1" dirty="0">
                <a:solidFill>
                  <a:schemeClr val="tx2"/>
                </a:solidFill>
              </a:rPr>
              <a:t> </a:t>
            </a:r>
            <a:r>
              <a:rPr lang="en-US" sz="1300" b="1" dirty="0" err="1">
                <a:solidFill>
                  <a:schemeClr val="tx2"/>
                </a:solidFill>
              </a:rPr>
              <a:t>Tradicional</a:t>
            </a:r>
            <a:r>
              <a:rPr lang="en-US" sz="1300" b="1" dirty="0">
                <a:solidFill>
                  <a:schemeClr val="tx2"/>
                </a:solidFill>
              </a:rPr>
              <a:t> (</a:t>
            </a:r>
            <a:r>
              <a:rPr lang="en-US" sz="1300" b="1" dirty="0" err="1">
                <a:solidFill>
                  <a:schemeClr val="tx2"/>
                </a:solidFill>
              </a:rPr>
              <a:t>Síncrono</a:t>
            </a:r>
            <a:r>
              <a:rPr lang="en-US" sz="1300" b="1" dirty="0">
                <a:solidFill>
                  <a:schemeClr val="tx2"/>
                </a:solidFill>
              </a:rPr>
              <a:t>):</a:t>
            </a:r>
            <a:r>
              <a:rPr lang="en-US" sz="1300" dirty="0">
                <a:solidFill>
                  <a:schemeClr val="tx2"/>
                </a:solidFill>
              </a:rPr>
              <a:t> Los </a:t>
            </a:r>
            <a:r>
              <a:rPr lang="en-US" sz="1300" dirty="0" err="1">
                <a:solidFill>
                  <a:schemeClr val="tx2"/>
                </a:solidFill>
              </a:rPr>
              <a:t>sistemas</a:t>
            </a:r>
            <a:r>
              <a:rPr lang="en-US" sz="1300" dirty="0">
                <a:solidFill>
                  <a:schemeClr val="tx2"/>
                </a:solidFill>
              </a:rPr>
              <a:t> se </a:t>
            </a:r>
            <a:r>
              <a:rPr lang="en-US" sz="1300" dirty="0" err="1">
                <a:solidFill>
                  <a:schemeClr val="tx2"/>
                </a:solidFill>
              </a:rPr>
              <a:t>bloquean</a:t>
            </a:r>
            <a:r>
              <a:rPr lang="en-US" sz="1300" dirty="0">
                <a:solidFill>
                  <a:schemeClr val="tx2"/>
                </a:solidFill>
              </a:rPr>
              <a:t> </a:t>
            </a:r>
            <a:r>
              <a:rPr lang="en-US" sz="1300" dirty="0" err="1">
                <a:solidFill>
                  <a:schemeClr val="tx2"/>
                </a:solidFill>
              </a:rPr>
              <a:t>esperando</a:t>
            </a:r>
            <a:r>
              <a:rPr lang="en-US" sz="1300" dirty="0">
                <a:solidFill>
                  <a:schemeClr val="tx2"/>
                </a:solidFill>
              </a:rPr>
              <a:t> </a:t>
            </a:r>
            <a:r>
              <a:rPr lang="en-US" sz="1300" dirty="0" err="1">
                <a:solidFill>
                  <a:schemeClr val="tx2"/>
                </a:solidFill>
              </a:rPr>
              <a:t>respuestas</a:t>
            </a:r>
            <a:r>
              <a:rPr lang="en-US" sz="1300" dirty="0">
                <a:solidFill>
                  <a:schemeClr val="tx2"/>
                </a:solidFill>
              </a:rPr>
              <a:t> </a:t>
            </a:r>
            <a:r>
              <a:rPr lang="en-US" sz="1300" dirty="0" err="1">
                <a:solidFill>
                  <a:schemeClr val="tx2"/>
                </a:solidFill>
              </a:rPr>
              <a:t>directas</a:t>
            </a:r>
            <a:r>
              <a:rPr lang="en-US" sz="1300" dirty="0">
                <a:solidFill>
                  <a:schemeClr val="tx2"/>
                </a:solidFill>
              </a:rPr>
              <a:t> (</a:t>
            </a:r>
            <a:r>
              <a:rPr lang="en-US" sz="1300" dirty="0" err="1">
                <a:solidFill>
                  <a:schemeClr val="tx2"/>
                </a:solidFill>
              </a:rPr>
              <a:t>Cuellos</a:t>
            </a:r>
            <a:r>
              <a:rPr lang="en-US" sz="1300" dirty="0">
                <a:solidFill>
                  <a:schemeClr val="tx2"/>
                </a:solidFill>
              </a:rPr>
              <a:t> de </a:t>
            </a:r>
            <a:r>
              <a:rPr lang="en-US" sz="1300" dirty="0" err="1">
                <a:solidFill>
                  <a:schemeClr val="tx2"/>
                </a:solidFill>
              </a:rPr>
              <a:t>botella</a:t>
            </a:r>
            <a:r>
              <a:rPr lang="en-US" sz="1300" dirty="0">
                <a:solidFill>
                  <a:schemeClr val="tx2"/>
                </a:solidFill>
              </a:rPr>
              <a:t>).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300" dirty="0">
              <a:solidFill>
                <a:schemeClr val="tx2"/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 b="1" dirty="0">
                <a:solidFill>
                  <a:schemeClr val="tx2"/>
                </a:solidFill>
              </a:rPr>
              <a:t>La </a:t>
            </a:r>
            <a:r>
              <a:rPr lang="en-US" sz="1300" b="1" dirty="0" err="1">
                <a:solidFill>
                  <a:schemeClr val="tx2"/>
                </a:solidFill>
              </a:rPr>
              <a:t>Solución</a:t>
            </a:r>
            <a:r>
              <a:rPr lang="en-US" sz="1300" b="1" dirty="0">
                <a:solidFill>
                  <a:schemeClr val="tx2"/>
                </a:solidFill>
              </a:rPr>
              <a:t> (</a:t>
            </a:r>
            <a:r>
              <a:rPr lang="en-US" sz="1300" b="1" dirty="0" err="1">
                <a:solidFill>
                  <a:schemeClr val="tx2"/>
                </a:solidFill>
              </a:rPr>
              <a:t>Asíncrono</a:t>
            </a:r>
            <a:r>
              <a:rPr lang="en-US" sz="1300" b="1" dirty="0">
                <a:solidFill>
                  <a:schemeClr val="tx2"/>
                </a:solidFill>
              </a:rPr>
              <a:t>):</a:t>
            </a:r>
            <a:r>
              <a:rPr lang="en-US" sz="1300" dirty="0">
                <a:solidFill>
                  <a:schemeClr val="tx2"/>
                </a:solidFill>
              </a:rPr>
              <a:t> Uso de </a:t>
            </a:r>
            <a:r>
              <a:rPr lang="en-US" sz="1300" dirty="0" err="1">
                <a:solidFill>
                  <a:schemeClr val="tx2"/>
                </a:solidFill>
              </a:rPr>
              <a:t>una</a:t>
            </a:r>
            <a:r>
              <a:rPr lang="en-US" sz="1300" dirty="0">
                <a:solidFill>
                  <a:schemeClr val="tx2"/>
                </a:solidFill>
              </a:rPr>
              <a:t> </a:t>
            </a:r>
            <a:r>
              <a:rPr lang="en-US" sz="1300" b="1" dirty="0">
                <a:solidFill>
                  <a:schemeClr val="tx2"/>
                </a:solidFill>
              </a:rPr>
              <a:t>Cola de </a:t>
            </a:r>
            <a:r>
              <a:rPr lang="en-US" sz="1300" b="1" dirty="0" err="1">
                <a:solidFill>
                  <a:schemeClr val="tx2"/>
                </a:solidFill>
              </a:rPr>
              <a:t>Mensajes</a:t>
            </a:r>
            <a:r>
              <a:rPr lang="en-US" sz="1300" dirty="0">
                <a:solidFill>
                  <a:schemeClr val="tx2"/>
                </a:solidFill>
              </a:rPr>
              <a:t> (</a:t>
            </a:r>
            <a:r>
              <a:rPr lang="en-US" sz="1300" dirty="0" err="1">
                <a:solidFill>
                  <a:schemeClr val="tx2"/>
                </a:solidFill>
              </a:rPr>
              <a:t>Buzón</a:t>
            </a:r>
            <a:r>
              <a:rPr lang="en-US" sz="1300" dirty="0">
                <a:solidFill>
                  <a:schemeClr val="tx2"/>
                </a:solidFill>
              </a:rPr>
              <a:t> </a:t>
            </a:r>
            <a:r>
              <a:rPr lang="en-US" sz="1300" dirty="0" err="1">
                <a:solidFill>
                  <a:schemeClr val="tx2"/>
                </a:solidFill>
              </a:rPr>
              <a:t>intermedio</a:t>
            </a:r>
            <a:r>
              <a:rPr lang="en-US" sz="1300" dirty="0">
                <a:solidFill>
                  <a:schemeClr val="tx2"/>
                </a:solidFill>
              </a:rPr>
              <a:t>).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300" dirty="0">
              <a:solidFill>
                <a:schemeClr val="tx2"/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 b="1" dirty="0">
                <a:solidFill>
                  <a:schemeClr val="tx2"/>
                </a:solidFill>
              </a:rPr>
              <a:t>El </a:t>
            </a:r>
            <a:r>
              <a:rPr lang="en-US" sz="1300" b="1" dirty="0" err="1">
                <a:solidFill>
                  <a:schemeClr val="tx2"/>
                </a:solidFill>
              </a:rPr>
              <a:t>Escritor</a:t>
            </a:r>
            <a:r>
              <a:rPr lang="en-US" sz="1300" b="1" dirty="0">
                <a:solidFill>
                  <a:schemeClr val="tx2"/>
                </a:solidFill>
              </a:rPr>
              <a:t> (Productor):</a:t>
            </a:r>
            <a:r>
              <a:rPr lang="en-US" sz="1300" dirty="0">
                <a:solidFill>
                  <a:schemeClr val="tx2"/>
                </a:solidFill>
              </a:rPr>
              <a:t> </a:t>
            </a:r>
            <a:r>
              <a:rPr lang="en-US" sz="1300" dirty="0" err="1">
                <a:solidFill>
                  <a:schemeClr val="tx2"/>
                </a:solidFill>
              </a:rPr>
              <a:t>Envía</a:t>
            </a:r>
            <a:r>
              <a:rPr lang="en-US" sz="1300" dirty="0">
                <a:solidFill>
                  <a:schemeClr val="tx2"/>
                </a:solidFill>
              </a:rPr>
              <a:t> la </a:t>
            </a:r>
            <a:r>
              <a:rPr lang="en-US" sz="1300" dirty="0" err="1">
                <a:solidFill>
                  <a:schemeClr val="tx2"/>
                </a:solidFill>
              </a:rPr>
              <a:t>instrucción</a:t>
            </a:r>
            <a:r>
              <a:rPr lang="en-US" sz="1300" dirty="0">
                <a:solidFill>
                  <a:schemeClr val="tx2"/>
                </a:solidFill>
              </a:rPr>
              <a:t> o </a:t>
            </a:r>
            <a:r>
              <a:rPr lang="en-US" sz="1300" dirty="0" err="1">
                <a:solidFill>
                  <a:schemeClr val="tx2"/>
                </a:solidFill>
              </a:rPr>
              <a:t>el</a:t>
            </a:r>
            <a:r>
              <a:rPr lang="en-US" sz="1300" dirty="0">
                <a:solidFill>
                  <a:schemeClr val="tx2"/>
                </a:solidFill>
              </a:rPr>
              <a:t> </a:t>
            </a:r>
            <a:r>
              <a:rPr lang="en-US" sz="1300" dirty="0" err="1">
                <a:solidFill>
                  <a:schemeClr val="tx2"/>
                </a:solidFill>
              </a:rPr>
              <a:t>paquete</a:t>
            </a:r>
            <a:r>
              <a:rPr lang="en-US" sz="1300" dirty="0">
                <a:solidFill>
                  <a:schemeClr val="tx2"/>
                </a:solidFill>
              </a:rPr>
              <a:t> de </a:t>
            </a:r>
            <a:r>
              <a:rPr lang="en-US" sz="1300" dirty="0" err="1">
                <a:solidFill>
                  <a:schemeClr val="tx2"/>
                </a:solidFill>
              </a:rPr>
              <a:t>datos</a:t>
            </a:r>
            <a:r>
              <a:rPr lang="en-US" sz="1300" dirty="0">
                <a:solidFill>
                  <a:schemeClr val="tx2"/>
                </a:solidFill>
              </a:rPr>
              <a:t> a la cola y se </a:t>
            </a:r>
            <a:r>
              <a:rPr lang="en-US" sz="1300" dirty="0" err="1">
                <a:solidFill>
                  <a:schemeClr val="tx2"/>
                </a:solidFill>
              </a:rPr>
              <a:t>retira</a:t>
            </a:r>
            <a:r>
              <a:rPr lang="en-US" sz="1300" dirty="0">
                <a:solidFill>
                  <a:schemeClr val="tx2"/>
                </a:solidFill>
              </a:rPr>
              <a:t>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300" dirty="0">
              <a:solidFill>
                <a:schemeClr val="tx2"/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 b="1" dirty="0">
                <a:solidFill>
                  <a:schemeClr val="tx2"/>
                </a:solidFill>
              </a:rPr>
              <a:t>El Listener (</a:t>
            </a:r>
            <a:r>
              <a:rPr lang="en-US" sz="1300" b="1" dirty="0" err="1">
                <a:solidFill>
                  <a:schemeClr val="tx2"/>
                </a:solidFill>
              </a:rPr>
              <a:t>Oyente</a:t>
            </a:r>
            <a:r>
              <a:rPr lang="en-US" sz="1300" b="1" dirty="0">
                <a:solidFill>
                  <a:schemeClr val="tx2"/>
                </a:solidFill>
              </a:rPr>
              <a:t>/</a:t>
            </a:r>
            <a:r>
              <a:rPr lang="en-US" sz="1300" b="1" dirty="0" err="1">
                <a:solidFill>
                  <a:schemeClr val="tx2"/>
                </a:solidFill>
              </a:rPr>
              <a:t>Consumidor</a:t>
            </a:r>
            <a:r>
              <a:rPr lang="en-US" sz="1300" b="1" dirty="0">
                <a:solidFill>
                  <a:schemeClr val="tx2"/>
                </a:solidFill>
              </a:rPr>
              <a:t>):</a:t>
            </a:r>
            <a:r>
              <a:rPr lang="en-US" sz="1300" dirty="0">
                <a:solidFill>
                  <a:schemeClr val="tx2"/>
                </a:solidFill>
              </a:rPr>
              <a:t> </a:t>
            </a:r>
            <a:r>
              <a:rPr lang="en-US" sz="1300" dirty="0" err="1">
                <a:solidFill>
                  <a:schemeClr val="tx2"/>
                </a:solidFill>
              </a:rPr>
              <a:t>Monitorea</a:t>
            </a:r>
            <a:r>
              <a:rPr lang="en-US" sz="1300" dirty="0">
                <a:solidFill>
                  <a:schemeClr val="tx2"/>
                </a:solidFill>
              </a:rPr>
              <a:t> la cola, </a:t>
            </a:r>
            <a:r>
              <a:rPr lang="en-US" sz="1300" dirty="0" err="1">
                <a:solidFill>
                  <a:schemeClr val="tx2"/>
                </a:solidFill>
              </a:rPr>
              <a:t>detecta</a:t>
            </a:r>
            <a:r>
              <a:rPr lang="en-US" sz="1300" dirty="0">
                <a:solidFill>
                  <a:schemeClr val="tx2"/>
                </a:solidFill>
              </a:rPr>
              <a:t> </a:t>
            </a:r>
            <a:r>
              <a:rPr lang="en-US" sz="1300" dirty="0" err="1">
                <a:solidFill>
                  <a:schemeClr val="tx2"/>
                </a:solidFill>
              </a:rPr>
              <a:t>el</a:t>
            </a:r>
            <a:r>
              <a:rPr lang="en-US" sz="1300" dirty="0">
                <a:solidFill>
                  <a:schemeClr val="tx2"/>
                </a:solidFill>
              </a:rPr>
              <a:t> </a:t>
            </a:r>
            <a:r>
              <a:rPr lang="en-US" sz="1300" i="1" dirty="0" err="1">
                <a:solidFill>
                  <a:schemeClr val="tx2"/>
                </a:solidFill>
              </a:rPr>
              <a:t>evento</a:t>
            </a:r>
            <a:r>
              <a:rPr lang="en-US" sz="1300" dirty="0">
                <a:solidFill>
                  <a:schemeClr val="tx2"/>
                </a:solidFill>
              </a:rPr>
              <a:t> de un nuevo </a:t>
            </a:r>
            <a:r>
              <a:rPr lang="en-US" sz="1300" dirty="0" err="1">
                <a:solidFill>
                  <a:schemeClr val="tx2"/>
                </a:solidFill>
              </a:rPr>
              <a:t>mensaje</a:t>
            </a:r>
            <a:r>
              <a:rPr lang="en-US" sz="1300" dirty="0">
                <a:solidFill>
                  <a:schemeClr val="tx2"/>
                </a:solidFill>
              </a:rPr>
              <a:t>, lo </a:t>
            </a:r>
            <a:r>
              <a:rPr lang="en-US" sz="1300" dirty="0" err="1">
                <a:solidFill>
                  <a:schemeClr val="tx2"/>
                </a:solidFill>
              </a:rPr>
              <a:t>toma</a:t>
            </a:r>
            <a:r>
              <a:rPr lang="en-US" sz="1300" dirty="0">
                <a:solidFill>
                  <a:schemeClr val="tx2"/>
                </a:solidFill>
              </a:rPr>
              <a:t> y lo </a:t>
            </a:r>
            <a:r>
              <a:rPr lang="en-US" sz="1300" dirty="0" err="1">
                <a:solidFill>
                  <a:schemeClr val="tx2"/>
                </a:solidFill>
              </a:rPr>
              <a:t>procesa</a:t>
            </a:r>
            <a:r>
              <a:rPr lang="en-US" sz="1300" dirty="0">
                <a:solidFill>
                  <a:schemeClr val="tx2"/>
                </a:solidFill>
              </a:rPr>
              <a:t>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300" dirty="0">
              <a:solidFill>
                <a:schemeClr val="tx2"/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 b="1" dirty="0" err="1">
                <a:solidFill>
                  <a:schemeClr val="tx2"/>
                </a:solidFill>
              </a:rPr>
              <a:t>Ventaja</a:t>
            </a:r>
            <a:r>
              <a:rPr lang="en-US" sz="1300" b="1" dirty="0">
                <a:solidFill>
                  <a:schemeClr val="tx2"/>
                </a:solidFill>
              </a:rPr>
              <a:t> Principal:</a:t>
            </a:r>
            <a:r>
              <a:rPr lang="en-US" sz="1300" dirty="0">
                <a:solidFill>
                  <a:schemeClr val="tx2"/>
                </a:solidFill>
              </a:rPr>
              <a:t> </a:t>
            </a:r>
            <a:r>
              <a:rPr lang="en-US" sz="1300" dirty="0" err="1">
                <a:solidFill>
                  <a:schemeClr val="tx2"/>
                </a:solidFill>
              </a:rPr>
              <a:t>Desacoplamiento</a:t>
            </a:r>
            <a:r>
              <a:rPr lang="en-US" sz="1300" dirty="0">
                <a:solidFill>
                  <a:schemeClr val="tx2"/>
                </a:solidFill>
              </a:rPr>
              <a:t> y </a:t>
            </a:r>
            <a:r>
              <a:rPr lang="en-US" sz="1300" dirty="0" err="1">
                <a:solidFill>
                  <a:schemeClr val="tx2"/>
                </a:solidFill>
              </a:rPr>
              <a:t>tolerancia</a:t>
            </a:r>
            <a:r>
              <a:rPr lang="en-US" sz="1300" dirty="0">
                <a:solidFill>
                  <a:schemeClr val="tx2"/>
                </a:solidFill>
              </a:rPr>
              <a:t> a </a:t>
            </a:r>
            <a:r>
              <a:rPr lang="en-US" sz="1300" dirty="0" err="1">
                <a:solidFill>
                  <a:schemeClr val="tx2"/>
                </a:solidFill>
              </a:rPr>
              <a:t>fallos</a:t>
            </a:r>
            <a:r>
              <a:rPr lang="en-US" sz="1300" dirty="0">
                <a:solidFill>
                  <a:schemeClr val="tx2"/>
                </a:solidFill>
              </a:rPr>
              <a:t>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300" dirty="0">
              <a:solidFill>
                <a:schemeClr val="tx2"/>
              </a:solidFill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78D9229-E61D-4FEE-8321-2F8B64A8CA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10186037" y="4852038"/>
            <a:ext cx="2151670" cy="1860256"/>
            <a:chOff x="-305" y="-4155"/>
            <a:chExt cx="2514948" cy="2174333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1FDD3CCB-26A3-4D79-AEB6-7A60CF980D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E9AC4470-5113-4709-B29F-CDB937F254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E0D146C-9DAB-421E-AE88-5F854BF3F7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12EB32A5-4408-4F6C-84B2-F9A908237A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7" name="Imagen 6">
            <a:extLst>
              <a:ext uri="{FF2B5EF4-FFF2-40B4-BE49-F238E27FC236}">
                <a16:creationId xmlns:a16="http://schemas.microsoft.com/office/drawing/2014/main" id="{BA64AAC1-E27F-29B3-7388-1CCB0988DC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812" y="560773"/>
            <a:ext cx="11784070" cy="1590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54023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D99E3F59-B3A1-AD9B-3955-3C7A440CCE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3138" y="256923"/>
            <a:ext cx="9025724" cy="2883959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F196F920-3F1F-864D-C94F-A5A635C91F95}"/>
              </a:ext>
            </a:extLst>
          </p:cNvPr>
          <p:cNvSpPr txBox="1"/>
          <p:nvPr/>
        </p:nvSpPr>
        <p:spPr>
          <a:xfrm>
            <a:off x="3048000" y="3429000"/>
            <a:ext cx="60960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MX" b="1" dirty="0"/>
              <a:t>Definición:</a:t>
            </a:r>
            <a:r>
              <a:rPr lang="es-MX" dirty="0"/>
              <a:t> Estructura de datos temporal que almacena información hasta que pueda ser procesada.</a:t>
            </a:r>
          </a:p>
          <a:p>
            <a:pPr>
              <a:buNone/>
            </a:pPr>
            <a:endParaRPr lang="es-MX" dirty="0"/>
          </a:p>
          <a:p>
            <a:pPr>
              <a:buNone/>
            </a:pPr>
            <a:r>
              <a:rPr lang="es-MX" b="1" dirty="0"/>
              <a:t>Mecanismo:</a:t>
            </a:r>
            <a:r>
              <a:rPr lang="es-MX" dirty="0"/>
              <a:t> FIFO (First-In, First-</a:t>
            </a:r>
            <a:r>
              <a:rPr lang="es-MX" dirty="0" err="1"/>
              <a:t>Out</a:t>
            </a:r>
            <a:r>
              <a:rPr lang="es-MX" dirty="0"/>
              <a:t> / El primero en entrar es el primero en salir).</a:t>
            </a:r>
          </a:p>
          <a:p>
            <a:pPr>
              <a:buNone/>
            </a:pPr>
            <a:endParaRPr lang="es-MX" dirty="0"/>
          </a:p>
          <a:p>
            <a:pPr>
              <a:buNone/>
            </a:pPr>
            <a:r>
              <a:rPr lang="es-MX" b="1" dirty="0"/>
              <a:t>Función Principal:</a:t>
            </a:r>
            <a:r>
              <a:rPr lang="es-MX" dirty="0"/>
              <a:t> Actuar como un buffer o amortiguador entre dos sistemas que operan a diferentes velocidades.</a:t>
            </a:r>
          </a:p>
          <a:p>
            <a:pPr>
              <a:buNone/>
            </a:pPr>
            <a:endParaRPr lang="es-MX" dirty="0"/>
          </a:p>
          <a:p>
            <a:pPr>
              <a:buNone/>
            </a:pPr>
            <a:r>
              <a:rPr lang="es-MX" b="1" dirty="0"/>
              <a:t>Tolerancia a fallos:</a:t>
            </a:r>
            <a:r>
              <a:rPr lang="es-MX" dirty="0"/>
              <a:t> Previene la pérdida de datos si el servidor de destino se apaga.</a:t>
            </a:r>
          </a:p>
        </p:txBody>
      </p:sp>
    </p:spTree>
    <p:extLst>
      <p:ext uri="{BB962C8B-B14F-4D97-AF65-F5344CB8AC3E}">
        <p14:creationId xmlns:p14="http://schemas.microsoft.com/office/powerpoint/2010/main" val="8887067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4378A4E-E64E-72F2-15BF-CDC77A89D1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7517" y="39014"/>
            <a:ext cx="7936966" cy="3217890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9B3206E1-8CC4-21A8-1352-7572DA760F71}"/>
              </a:ext>
            </a:extLst>
          </p:cNvPr>
          <p:cNvSpPr txBox="1"/>
          <p:nvPr/>
        </p:nvSpPr>
        <p:spPr>
          <a:xfrm>
            <a:off x="3048762" y="3256904"/>
            <a:ext cx="609447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MX" b="1" dirty="0"/>
              <a:t>Productor (Escritor):</a:t>
            </a:r>
            <a:r>
              <a:rPr lang="es-MX" dirty="0"/>
              <a:t> El sistema que genera el paquete de datos y lo inyecta en la cola. Se desconecta inmediatamente.</a:t>
            </a:r>
          </a:p>
          <a:p>
            <a:pPr>
              <a:buNone/>
            </a:pPr>
            <a:endParaRPr lang="es-MX" dirty="0"/>
          </a:p>
          <a:p>
            <a:pPr>
              <a:buNone/>
            </a:pPr>
            <a:r>
              <a:rPr lang="es-MX" b="1" dirty="0"/>
              <a:t>El Evento:</a:t>
            </a:r>
            <a:r>
              <a:rPr lang="es-MX" dirty="0"/>
              <a:t> La señal automática de que un nuevo mensaje ha llegado al buzón.</a:t>
            </a:r>
          </a:p>
          <a:p>
            <a:pPr>
              <a:buNone/>
            </a:pPr>
            <a:endParaRPr lang="es-MX" dirty="0"/>
          </a:p>
          <a:p>
            <a:pPr>
              <a:buNone/>
            </a:pPr>
            <a:r>
              <a:rPr lang="es-MX" b="1" dirty="0"/>
              <a:t>Consumidor (</a:t>
            </a:r>
            <a:r>
              <a:rPr lang="es-MX" b="1" dirty="0" err="1"/>
              <a:t>Listener</a:t>
            </a:r>
            <a:r>
              <a:rPr lang="es-MX" b="1" dirty="0"/>
              <a:t>):</a:t>
            </a:r>
            <a:r>
              <a:rPr lang="es-MX" dirty="0"/>
              <a:t> Proceso en segundo plano que reacciona al evento, extrae el mensaje de la cola y lo ejecuta en la base de datos.</a:t>
            </a:r>
          </a:p>
          <a:p>
            <a:pPr>
              <a:buNone/>
            </a:pPr>
            <a:endParaRPr lang="es-MX" dirty="0"/>
          </a:p>
          <a:p>
            <a:pPr>
              <a:buNone/>
            </a:pPr>
            <a:r>
              <a:rPr lang="es-MX" b="1" dirty="0"/>
              <a:t>Resultado:</a:t>
            </a:r>
            <a:r>
              <a:rPr lang="es-MX" dirty="0"/>
              <a:t> Desacoplamiento total de los sistemas.</a:t>
            </a:r>
          </a:p>
        </p:txBody>
      </p:sp>
    </p:spTree>
    <p:extLst>
      <p:ext uri="{BB962C8B-B14F-4D97-AF65-F5344CB8AC3E}">
        <p14:creationId xmlns:p14="http://schemas.microsoft.com/office/powerpoint/2010/main" val="42095867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EF45C9-83D3-2EE6-A789-A154D8FB62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08771" y="215498"/>
            <a:ext cx="5574458" cy="861420"/>
          </a:xfrm>
        </p:spPr>
        <p:txBody>
          <a:bodyPr/>
          <a:lstStyle/>
          <a:p>
            <a:r>
              <a:rPr lang="es-ES" sz="4800" dirty="0"/>
              <a:t>CARACTERISTICAS</a:t>
            </a:r>
            <a:endParaRPr lang="es-419" sz="4800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4122127-603C-E421-F0C1-468CB8476E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6712" y="1510008"/>
            <a:ext cx="11458575" cy="4961044"/>
          </a:xfrm>
        </p:spPr>
        <p:txBody>
          <a:bodyPr>
            <a:normAutofit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cap="non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Soporte nativo de JSON y XML: Permite almacenar documentos semiestructurados directamente en las tablas sin necesidad de descomponerlos</a:t>
            </a:r>
          </a:p>
          <a:p>
            <a:endParaRPr lang="es-ES" cap="none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cap="non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Consultas unificadas: Se puede utilizar el lenguaje SQL estándar para consultar datos relacionales y, al mismo tiempo, extraer atributos de un objeto JSON en la misma línea de código.</a:t>
            </a:r>
          </a:p>
          <a:p>
            <a:endParaRPr lang="es-ES" cap="none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cap="non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Beneficio real: Ideal para proyectos modernos donde ciertas entidades tienen características muy variables (por ejemplo, catálogos de productos con especificaciones técnicas distintas).</a:t>
            </a:r>
          </a:p>
          <a:p>
            <a:endParaRPr lang="es-ES" cap="none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cap="non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Almacenamiento por columnas: En lugar de leer toda una fila para obtener un dato, Db2 lee solo las columnas necesarias, reduciendo drásticamente el uso del disco y memoria.</a:t>
            </a:r>
            <a:endParaRPr lang="es-419" cap="none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cap="none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11206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8F906D-AEF6-166D-393D-AB0E50887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015377-B341-F640-47B4-7039113255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08771" y="215498"/>
            <a:ext cx="5574458" cy="861420"/>
          </a:xfrm>
        </p:spPr>
        <p:txBody>
          <a:bodyPr/>
          <a:lstStyle/>
          <a:p>
            <a:r>
              <a:rPr lang="es-ES" sz="4800" dirty="0"/>
              <a:t>CARACTERISTICAS</a:t>
            </a:r>
            <a:endParaRPr lang="es-419" sz="4800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19BB05E-53FB-384D-BCEE-E6B4D12829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1474" y="1462680"/>
            <a:ext cx="11458575" cy="5052420"/>
          </a:xfrm>
        </p:spPr>
        <p:txBody>
          <a:bodyPr>
            <a:normAutofit fontScale="92500"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cap="non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Procesamiento de memoria (In-</a:t>
            </a:r>
            <a:r>
              <a:rPr lang="es-ES" cap="none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Memory</a:t>
            </a:r>
            <a:r>
              <a:rPr lang="es-ES" cap="non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): Diseñado para cargar los datos analíticos directamente en la memoria RAM, maximizando la velocidad de respuesta.</a:t>
            </a:r>
          </a:p>
          <a:p>
            <a:endParaRPr lang="es-ES" cap="none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cap="none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Compresion</a:t>
            </a:r>
            <a:r>
              <a:rPr lang="es-ES" cap="non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datos extrema: Utiliza algoritmos avanzados que permiten procesar los datos directamente en su estado comprimido, sin perder tiempo en descomprimirlos primero.</a:t>
            </a:r>
          </a:p>
          <a:p>
            <a:endParaRPr lang="es-419" cap="none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419" cap="none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Tecnologia</a:t>
            </a:r>
            <a:r>
              <a:rPr lang="es-419" cap="non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HADR (High </a:t>
            </a:r>
            <a:r>
              <a:rPr lang="es-419" cap="none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Availability</a:t>
            </a:r>
            <a:r>
              <a:rPr lang="es-419" cap="non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419" cap="none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Disaster</a:t>
            </a:r>
            <a:r>
              <a:rPr lang="es-419" cap="non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419" cap="none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Recovery</a:t>
            </a:r>
            <a:r>
              <a:rPr lang="es-419" cap="non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): </a:t>
            </a:r>
            <a:r>
              <a:rPr lang="es-ES" cap="non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Replica los datos constantemente a un servidor secundario. Si el servidor principal sufre un apagón, el secundario toma el control en segundos sin pérdida de datos.</a:t>
            </a:r>
          </a:p>
          <a:p>
            <a:endParaRPr lang="es-419" cap="none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419" cap="none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Seguridas</a:t>
            </a:r>
            <a:r>
              <a:rPr lang="es-419" cap="non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y cifrado nativo : </a:t>
            </a:r>
            <a:r>
              <a:rPr lang="es-ES" cap="non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Los datos se cifran automáticamente cuando están guardados en el disco (en reposo) y cuando viajan por la red (en tránsito), cumpliendo con normativas internacionales de protección de datos.</a:t>
            </a:r>
            <a:endParaRPr lang="es-419" cap="none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419" cap="none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cap="none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69979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8A3383-B9C3-B50D-5F4E-AE72B5E7D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02739B-6396-DDA1-2830-93570AD696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59806" y="342900"/>
            <a:ext cx="7672388" cy="861420"/>
          </a:xfrm>
        </p:spPr>
        <p:txBody>
          <a:bodyPr/>
          <a:lstStyle/>
          <a:p>
            <a:r>
              <a:rPr lang="es-ES" sz="4800" dirty="0"/>
              <a:t>REQUISITOS HARDWARE</a:t>
            </a:r>
            <a:endParaRPr lang="es-419" sz="4800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8A4AA7B-9F66-C5BD-C620-B6504D00E8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6712" y="1427117"/>
            <a:ext cx="11458575" cy="2432594"/>
          </a:xfrm>
        </p:spPr>
        <p:txBody>
          <a:bodyPr>
            <a:normAutofit fontScale="92500" lnSpcReduction="2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cap="non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Procesador (CPU):Se requiere un mínimo absoluto de 2 núcleos (</a:t>
            </a:r>
            <a:r>
              <a:rPr lang="es-ES" cap="none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vCPUs</a:t>
            </a:r>
            <a:r>
              <a:rPr lang="es-ES" cap="non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dedicados para que los hilos de procesamiento de compresión funcionen.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419" cap="non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Memoria RAM: </a:t>
            </a:r>
            <a:r>
              <a:rPr lang="es-ES" cap="non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Mínimo de 4 GB de RAM libres asignados únicamente al proceso de Db2. Recomendado: 8 GB de RAM o más si la computadora se usará tanto de servidor como de estación de programación (para que no se congele al abrir el IDE de desarrollo).</a:t>
            </a:r>
            <a:endParaRPr lang="es-419" cap="none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419" cap="non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Almacenamiento (Disco Duro):</a:t>
            </a:r>
            <a:r>
              <a:rPr lang="es-ES" cap="non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Mínimo 5 GB a 10 GB de espacio libre en disco exclusivamente para el software base, herramientas y logs de transacciones iniciales.</a:t>
            </a:r>
            <a:endParaRPr lang="es-419" cap="none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419" cap="none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4FC26213-BEE3-D14E-3BC1-88FE6C92652D}"/>
              </a:ext>
            </a:extLst>
          </p:cNvPr>
          <p:cNvSpPr txBox="1">
            <a:spLocks/>
          </p:cNvSpPr>
          <p:nvPr/>
        </p:nvSpPr>
        <p:spPr>
          <a:xfrm>
            <a:off x="2031205" y="3859711"/>
            <a:ext cx="7672388" cy="86142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s-ES" sz="4800" dirty="0"/>
              <a:t>REQUISITOS SOFTWARE</a:t>
            </a:r>
            <a:endParaRPr lang="es-419" sz="4800" dirty="0"/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A8DCE25F-FA4B-BA41-A589-5E2FF7CDC719}"/>
              </a:ext>
            </a:extLst>
          </p:cNvPr>
          <p:cNvSpPr txBox="1">
            <a:spLocks/>
          </p:cNvSpPr>
          <p:nvPr/>
        </p:nvSpPr>
        <p:spPr>
          <a:xfrm>
            <a:off x="138112" y="4979490"/>
            <a:ext cx="11458575" cy="153561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cap="non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Linux (Entorno nativo recomendado): Red </a:t>
            </a:r>
            <a:r>
              <a:rPr lang="es-ES" cap="none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Hat</a:t>
            </a:r>
            <a:r>
              <a:rPr lang="es-ES" cap="non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Enterprise Linux (RHEL), SUSE Linux Enterprise Server (SLES) y distribuciones basadas en Ubuntu LTS.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cap="non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Windows: Windows Server (2016 o superior) o Windows 10/11 en sus versiones de 64 bits (Pro, Enterprise o </a:t>
            </a:r>
            <a:r>
              <a:rPr lang="es-ES" cap="none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Education</a:t>
            </a:r>
            <a:r>
              <a:rPr lang="es-ES" cap="non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). Nota: No se soporta formalmente en versiones "Home".</a:t>
            </a:r>
            <a:endParaRPr lang="es-419" cap="none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87865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9544F7-D203-6EF1-38AC-7BDD8589A2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62912" y="372555"/>
            <a:ext cx="7821168" cy="807021"/>
          </a:xfrm>
        </p:spPr>
        <p:txBody>
          <a:bodyPr>
            <a:normAutofit fontScale="90000"/>
          </a:bodyPr>
          <a:lstStyle/>
          <a:p>
            <a:r>
              <a:rPr lang="es-MX" dirty="0"/>
              <a:t>Instalación 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4DB496F-BA37-32C9-723C-F22662A576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055" y="1408938"/>
            <a:ext cx="4677410" cy="361950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4AF1D335-7B9F-0FA1-4A09-1779DFCD25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427738"/>
            <a:ext cx="4658375" cy="358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90060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C7A56C-6402-063B-E36E-1E737CC922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8486" y="4229285"/>
            <a:ext cx="5715162" cy="941832"/>
          </a:xfrm>
        </p:spPr>
        <p:txBody>
          <a:bodyPr>
            <a:normAutofit fontScale="90000"/>
          </a:bodyPr>
          <a:lstStyle/>
          <a:p>
            <a:r>
              <a:rPr lang="es-MX" dirty="0"/>
              <a:t>Verificar que se haya instalado correctamente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BD62AE7-3470-0DCC-6F77-E5CBD47221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68" y="3971702"/>
            <a:ext cx="6099209" cy="2398829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91137FFB-B532-B0E1-A60A-8F436D580C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953" y="203716"/>
            <a:ext cx="4658375" cy="3581900"/>
          </a:xfrm>
          <a:prstGeom prst="rect">
            <a:avLst/>
          </a:prstGeom>
        </p:spPr>
      </p:pic>
      <p:sp>
        <p:nvSpPr>
          <p:cNvPr id="7" name="Título 1">
            <a:extLst>
              <a:ext uri="{FF2B5EF4-FFF2-40B4-BE49-F238E27FC236}">
                <a16:creationId xmlns:a16="http://schemas.microsoft.com/office/drawing/2014/main" id="{8BFF7CF4-F375-1A4D-F556-E4DF86385A78}"/>
              </a:ext>
            </a:extLst>
          </p:cNvPr>
          <p:cNvSpPr txBox="1">
            <a:spLocks/>
          </p:cNvSpPr>
          <p:nvPr/>
        </p:nvSpPr>
        <p:spPr>
          <a:xfrm>
            <a:off x="6580470" y="1422077"/>
            <a:ext cx="5715162" cy="9418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dirty="0"/>
              <a:t>Finalizar la instalación</a:t>
            </a:r>
          </a:p>
        </p:txBody>
      </p:sp>
    </p:spTree>
    <p:extLst>
      <p:ext uri="{BB962C8B-B14F-4D97-AF65-F5344CB8AC3E}">
        <p14:creationId xmlns:p14="http://schemas.microsoft.com/office/powerpoint/2010/main" val="6116198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AE3608-6023-4EFE-62BB-EA17D68B74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392" y="730885"/>
            <a:ext cx="4453128" cy="1619123"/>
          </a:xfrm>
        </p:spPr>
        <p:txBody>
          <a:bodyPr>
            <a:normAutofit fontScale="90000"/>
          </a:bodyPr>
          <a:lstStyle/>
          <a:p>
            <a:r>
              <a:rPr lang="es-MX" dirty="0"/>
              <a:t>Instalar IBM MQ </a:t>
            </a:r>
            <a:r>
              <a:rPr lang="es-MX" dirty="0" err="1"/>
              <a:t>Downloads</a:t>
            </a:r>
            <a:r>
              <a:rPr lang="es-MX" dirty="0"/>
              <a:t> </a:t>
            </a:r>
            <a:r>
              <a:rPr lang="es-MX" dirty="0" err="1"/>
              <a:t>for</a:t>
            </a:r>
            <a:r>
              <a:rPr lang="es-MX" dirty="0"/>
              <a:t> </a:t>
            </a:r>
            <a:r>
              <a:rPr lang="es-MX" dirty="0" err="1"/>
              <a:t>developers</a:t>
            </a:r>
            <a:endParaRPr lang="es-MX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C756009-121B-C152-C496-7C465E1ACE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335" y="2870264"/>
            <a:ext cx="4884801" cy="3437821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DAABE36B-C7B5-BA13-D102-A9E10BFB91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672398"/>
            <a:ext cx="5612130" cy="3860165"/>
          </a:xfrm>
          <a:prstGeom prst="rect">
            <a:avLst/>
          </a:prstGeom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3CC50D0A-C01C-B5F8-FA0E-0B5ED4C564A5}"/>
              </a:ext>
            </a:extLst>
          </p:cNvPr>
          <p:cNvSpPr txBox="1">
            <a:spLocks/>
          </p:cNvSpPr>
          <p:nvPr/>
        </p:nvSpPr>
        <p:spPr>
          <a:xfrm>
            <a:off x="6252591" y="636397"/>
            <a:ext cx="4453128" cy="16191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dirty="0"/>
              <a:t>Verificar que no aparezca ningún error en los requisitos del software</a:t>
            </a:r>
          </a:p>
        </p:txBody>
      </p:sp>
    </p:spTree>
    <p:extLst>
      <p:ext uri="{BB962C8B-B14F-4D97-AF65-F5344CB8AC3E}">
        <p14:creationId xmlns:p14="http://schemas.microsoft.com/office/powerpoint/2010/main" val="38480976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88A99D-12D2-EF18-C02D-034686C51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Seleccionar que el dispositivo no pertenece a un dominio de </a:t>
            </a:r>
            <a:r>
              <a:rPr lang="es-MX" dirty="0" err="1"/>
              <a:t>windows</a:t>
            </a:r>
            <a:endParaRPr lang="es-MX" dirty="0"/>
          </a:p>
        </p:txBody>
      </p:sp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35AD0537-90A1-801F-E28F-01596647F8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1415" y="1825625"/>
            <a:ext cx="624917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50758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028353-3D86-E04B-4C3A-58E2057B2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Verificar el estado de preinstalación, si no marca error lanzar el instalador de IBM MQ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180033D-6C20-3D76-B9A6-4CCD7225D4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1831" y="2251464"/>
            <a:ext cx="6008666" cy="4241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58461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03C319-F1E0-FCE2-7E28-5A706DB489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062" y="1060069"/>
            <a:ext cx="3770376" cy="1299083"/>
          </a:xfrm>
        </p:spPr>
        <p:txBody>
          <a:bodyPr>
            <a:normAutofit fontScale="90000"/>
          </a:bodyPr>
          <a:lstStyle/>
          <a:p>
            <a:r>
              <a:rPr lang="es-MX" dirty="0"/>
              <a:t>Configuración de IBM  MQ 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2748DB96-2304-E2BA-E0D0-5809B01700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0" y="362874"/>
            <a:ext cx="3710695" cy="2856706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A05E8266-8D98-CF51-EC81-F7493B9310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655" y="3310128"/>
            <a:ext cx="4017124" cy="3098925"/>
          </a:xfrm>
          <a:prstGeom prst="rect">
            <a:avLst/>
          </a:prstGeom>
        </p:spPr>
      </p:pic>
      <p:sp>
        <p:nvSpPr>
          <p:cNvPr id="8" name="Título 1">
            <a:extLst>
              <a:ext uri="{FF2B5EF4-FFF2-40B4-BE49-F238E27FC236}">
                <a16:creationId xmlns:a16="http://schemas.microsoft.com/office/drawing/2014/main" id="{87EAF64E-36A6-882F-1290-B5CC4F6D9B5D}"/>
              </a:ext>
            </a:extLst>
          </p:cNvPr>
          <p:cNvSpPr txBox="1">
            <a:spLocks/>
          </p:cNvSpPr>
          <p:nvPr/>
        </p:nvSpPr>
        <p:spPr>
          <a:xfrm>
            <a:off x="5787526" y="4138549"/>
            <a:ext cx="3770376" cy="12990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dirty="0"/>
              <a:t>Tipo de instalación “</a:t>
            </a:r>
            <a:r>
              <a:rPr lang="es-MX" dirty="0" err="1"/>
              <a:t>Tipica</a:t>
            </a:r>
            <a:r>
              <a:rPr lang="es-MX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646912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B38705-4E8A-06A5-5A27-871D785CA9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Configuración de la red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E3EBA7F2-00EB-B8A9-A9F5-998936CE9A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63703" y="348377"/>
            <a:ext cx="4182568" cy="3290935"/>
          </a:xfrm>
          <a:prstGeom prst="rect">
            <a:avLst/>
          </a:prstGeom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CB0B3918-4302-7ADC-BFE8-323EF4291001}"/>
              </a:ext>
            </a:extLst>
          </p:cNvPr>
          <p:cNvSpPr txBox="1">
            <a:spLocks/>
          </p:cNvSpPr>
          <p:nvPr/>
        </p:nvSpPr>
        <p:spPr>
          <a:xfrm>
            <a:off x="1185672" y="1707436"/>
            <a:ext cx="4648200" cy="9168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5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dirty="0"/>
              <a:t>Como se está instalando en una PC personal seleccionamos la opción “No”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F7992230-71F1-1605-7F9B-94CACD1060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837" y="2816654"/>
            <a:ext cx="4944165" cy="3858163"/>
          </a:xfrm>
          <a:prstGeom prst="rect">
            <a:avLst/>
          </a:prstGeom>
        </p:spPr>
      </p:pic>
      <p:sp>
        <p:nvSpPr>
          <p:cNvPr id="9" name="Título 1">
            <a:extLst>
              <a:ext uri="{FF2B5EF4-FFF2-40B4-BE49-F238E27FC236}">
                <a16:creationId xmlns:a16="http://schemas.microsoft.com/office/drawing/2014/main" id="{D6F70CDA-8768-1EAE-C32C-16123AA65520}"/>
              </a:ext>
            </a:extLst>
          </p:cNvPr>
          <p:cNvSpPr txBox="1">
            <a:spLocks/>
          </p:cNvSpPr>
          <p:nvPr/>
        </p:nvSpPr>
        <p:spPr>
          <a:xfrm>
            <a:off x="6217920" y="4398264"/>
            <a:ext cx="5135880" cy="14150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dirty="0"/>
              <a:t>Finalizamos el asistente de preparación de IBM MQ</a:t>
            </a:r>
          </a:p>
        </p:txBody>
      </p:sp>
    </p:spTree>
    <p:extLst>
      <p:ext uri="{BB962C8B-B14F-4D97-AF65-F5344CB8AC3E}">
        <p14:creationId xmlns:p14="http://schemas.microsoft.com/office/powerpoint/2010/main" val="25910501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15F6AC-C302-730B-CFBD-5C09CB8E3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1576" y="455623"/>
            <a:ext cx="4617720" cy="1286702"/>
          </a:xfrm>
        </p:spPr>
        <p:txBody>
          <a:bodyPr>
            <a:normAutofit fontScale="90000"/>
          </a:bodyPr>
          <a:lstStyle/>
          <a:p>
            <a:r>
              <a:rPr lang="es-MX" dirty="0"/>
              <a:t>Completamos el asistente de preparación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149D9113-9378-E2AF-50D6-E217D34D8F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57657" y="157057"/>
            <a:ext cx="4062984" cy="3170536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8F30318F-B3E6-5DD0-5A55-7045F2316A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906214"/>
            <a:ext cx="4658375" cy="3496163"/>
          </a:xfrm>
          <a:prstGeom prst="rect">
            <a:avLst/>
          </a:prstGeom>
        </p:spPr>
      </p:pic>
      <p:sp>
        <p:nvSpPr>
          <p:cNvPr id="10" name="Título 1">
            <a:extLst>
              <a:ext uri="{FF2B5EF4-FFF2-40B4-BE49-F238E27FC236}">
                <a16:creationId xmlns:a16="http://schemas.microsoft.com/office/drawing/2014/main" id="{72EB81BE-BD49-3609-5C39-0D842A8DCFC1}"/>
              </a:ext>
            </a:extLst>
          </p:cNvPr>
          <p:cNvSpPr txBox="1">
            <a:spLocks/>
          </p:cNvSpPr>
          <p:nvPr/>
        </p:nvSpPr>
        <p:spPr>
          <a:xfrm>
            <a:off x="865632" y="4091887"/>
            <a:ext cx="4617720" cy="1286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5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dirty="0"/>
              <a:t>Verificamos que se haya instalado correctamente y seleccionamos instalar una nueva instancia y le damos en siguiente</a:t>
            </a:r>
          </a:p>
        </p:txBody>
      </p:sp>
    </p:spTree>
    <p:extLst>
      <p:ext uri="{BB962C8B-B14F-4D97-AF65-F5344CB8AC3E}">
        <p14:creationId xmlns:p14="http://schemas.microsoft.com/office/powerpoint/2010/main" val="40762539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EE2B69-C7EF-B47E-A19A-684A86138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6504" y="804036"/>
            <a:ext cx="5983224" cy="1454531"/>
          </a:xfrm>
        </p:spPr>
        <p:txBody>
          <a:bodyPr/>
          <a:lstStyle/>
          <a:p>
            <a:r>
              <a:rPr lang="es-MX" dirty="0"/>
              <a:t>Aceptamos los término de acuerdos de licencia 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A124802-8DD2-4C0F-2CCF-127758BBDC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869" y="376561"/>
            <a:ext cx="3177100" cy="2455032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9A9A28D4-3861-FD01-4E11-0796FE9456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971" y="3207966"/>
            <a:ext cx="4534533" cy="3496163"/>
          </a:xfrm>
          <a:prstGeom prst="rect">
            <a:avLst/>
          </a:prstGeom>
        </p:spPr>
      </p:pic>
      <p:sp>
        <p:nvSpPr>
          <p:cNvPr id="8" name="Título 1">
            <a:extLst>
              <a:ext uri="{FF2B5EF4-FFF2-40B4-BE49-F238E27FC236}">
                <a16:creationId xmlns:a16="http://schemas.microsoft.com/office/drawing/2014/main" id="{09E34E7C-5031-F33E-F312-FF6EB3F420DD}"/>
              </a:ext>
            </a:extLst>
          </p:cNvPr>
          <p:cNvSpPr txBox="1">
            <a:spLocks/>
          </p:cNvSpPr>
          <p:nvPr/>
        </p:nvSpPr>
        <p:spPr>
          <a:xfrm>
            <a:off x="6303264" y="3872168"/>
            <a:ext cx="5983224" cy="14545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dirty="0"/>
              <a:t>En tipo de instalación seleccionamos Típica</a:t>
            </a:r>
          </a:p>
        </p:txBody>
      </p:sp>
    </p:spTree>
    <p:extLst>
      <p:ext uri="{BB962C8B-B14F-4D97-AF65-F5344CB8AC3E}">
        <p14:creationId xmlns:p14="http://schemas.microsoft.com/office/powerpoint/2010/main" val="9249699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1D05CC-957D-BCA1-A6C1-1D45E70963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785360" cy="1070483"/>
          </a:xfrm>
        </p:spPr>
        <p:txBody>
          <a:bodyPr>
            <a:normAutofit fontScale="90000"/>
          </a:bodyPr>
          <a:lstStyle/>
          <a:p>
            <a:pPr algn="ctr"/>
            <a:r>
              <a:rPr lang="es-MX" dirty="0"/>
              <a:t>Instalamos el IBM MQ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45434DF-8EC9-B1A2-9B82-A261872867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659" y="1937576"/>
            <a:ext cx="4667901" cy="3515216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D58C2002-4CED-8CE8-8A05-1414E38872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8087" y="2061419"/>
            <a:ext cx="4553585" cy="3391373"/>
          </a:xfrm>
          <a:prstGeom prst="rect">
            <a:avLst/>
          </a:prstGeom>
        </p:spPr>
      </p:pic>
      <p:sp>
        <p:nvSpPr>
          <p:cNvPr id="8" name="Título 1">
            <a:extLst>
              <a:ext uri="{FF2B5EF4-FFF2-40B4-BE49-F238E27FC236}">
                <a16:creationId xmlns:a16="http://schemas.microsoft.com/office/drawing/2014/main" id="{B844F467-B06B-162E-5D20-9E1C13F4E5D1}"/>
              </a:ext>
            </a:extLst>
          </p:cNvPr>
          <p:cNvSpPr txBox="1">
            <a:spLocks/>
          </p:cNvSpPr>
          <p:nvPr/>
        </p:nvSpPr>
        <p:spPr>
          <a:xfrm>
            <a:off x="6172199" y="365124"/>
            <a:ext cx="4785360" cy="10704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dirty="0"/>
              <a:t>Finalizamos la instalación</a:t>
            </a:r>
          </a:p>
        </p:txBody>
      </p:sp>
    </p:spTree>
    <p:extLst>
      <p:ext uri="{BB962C8B-B14F-4D97-AF65-F5344CB8AC3E}">
        <p14:creationId xmlns:p14="http://schemas.microsoft.com/office/powerpoint/2010/main" val="22134284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54E35D-B6D6-1E64-7713-85EF95666C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5" y="374650"/>
            <a:ext cx="10182225" cy="997596"/>
          </a:xfrm>
        </p:spPr>
        <p:txBody>
          <a:bodyPr>
            <a:normAutofit/>
          </a:bodyPr>
          <a:lstStyle/>
          <a:p>
            <a:r>
              <a:rPr lang="es-MX" dirty="0"/>
              <a:t>Abrimos CMD y ejecutamos “</a:t>
            </a:r>
            <a:r>
              <a:rPr lang="es-MX" dirty="0" err="1"/>
              <a:t>dspmqver</a:t>
            </a:r>
            <a:r>
              <a:rPr lang="es-MX" dirty="0"/>
              <a:t>”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22477E95-4B39-794C-F487-A7FBDEF6B1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5787" y="1553921"/>
            <a:ext cx="6426129" cy="3275253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ECEC8AEF-BCC1-B90F-6CC1-C2B67075C965}"/>
              </a:ext>
            </a:extLst>
          </p:cNvPr>
          <p:cNvSpPr txBox="1"/>
          <p:nvPr/>
        </p:nvSpPr>
        <p:spPr>
          <a:xfrm>
            <a:off x="1965959" y="5200004"/>
            <a:ext cx="71685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Ese comando nos dirá si IBM MQ quedó instalado correctamente.</a:t>
            </a:r>
          </a:p>
        </p:txBody>
      </p:sp>
    </p:spTree>
    <p:extLst>
      <p:ext uri="{BB962C8B-B14F-4D97-AF65-F5344CB8AC3E}">
        <p14:creationId xmlns:p14="http://schemas.microsoft.com/office/powerpoint/2010/main" val="19356154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5CFFB7-08E8-16B5-E745-598E98635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0" y="436395"/>
            <a:ext cx="4067175" cy="1292225"/>
          </a:xfrm>
        </p:spPr>
        <p:txBody>
          <a:bodyPr>
            <a:normAutofit fontScale="90000"/>
          </a:bodyPr>
          <a:lstStyle/>
          <a:p>
            <a:r>
              <a:rPr lang="es-MX" dirty="0"/>
              <a:t>Creación de la  </a:t>
            </a:r>
            <a:r>
              <a:rPr lang="es-MX" dirty="0" err="1"/>
              <a:t>Queue</a:t>
            </a:r>
            <a:r>
              <a:rPr lang="es-MX" dirty="0"/>
              <a:t> Manager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A773264E-32EF-3185-5394-2A8F34E328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132" y="1900069"/>
            <a:ext cx="5837736" cy="3057862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76E43D6F-85B4-2A26-08AA-D207901133E2}"/>
              </a:ext>
            </a:extLst>
          </p:cNvPr>
          <p:cNvSpPr txBox="1"/>
          <p:nvPr/>
        </p:nvSpPr>
        <p:spPr>
          <a:xfrm>
            <a:off x="6225134" y="291095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En esa misma ventana de CMD ejecutamos el siguiente comando  </a:t>
            </a:r>
            <a:r>
              <a:rPr lang="es-MX" dirty="0" err="1"/>
              <a:t>crtmqm</a:t>
            </a:r>
            <a:r>
              <a:rPr lang="es-MX" dirty="0"/>
              <a:t> QM_LAB</a:t>
            </a:r>
          </a:p>
        </p:txBody>
      </p:sp>
    </p:spTree>
    <p:extLst>
      <p:ext uri="{BB962C8B-B14F-4D97-AF65-F5344CB8AC3E}">
        <p14:creationId xmlns:p14="http://schemas.microsoft.com/office/powerpoint/2010/main" val="22031509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2F5FA4-F1B9-E03A-2B6A-14BE3F30E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iniciar el </a:t>
            </a:r>
            <a:r>
              <a:rPr lang="es-MX" dirty="0" err="1"/>
              <a:t>Queue</a:t>
            </a:r>
            <a:r>
              <a:rPr lang="es-MX" dirty="0"/>
              <a:t> Manager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26B0D07-8E6B-1F70-D188-CEA6909C39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53200" y="1825625"/>
            <a:ext cx="4800600" cy="4351338"/>
          </a:xfrm>
        </p:spPr>
        <p:txBody>
          <a:bodyPr/>
          <a:lstStyle/>
          <a:p>
            <a:r>
              <a:rPr lang="es-MX" dirty="0"/>
              <a:t>Ahora ejecutaremos el comando  </a:t>
            </a:r>
            <a:r>
              <a:rPr lang="es-MX" dirty="0" err="1"/>
              <a:t>strmqm</a:t>
            </a:r>
            <a:r>
              <a:rPr lang="es-MX" dirty="0"/>
              <a:t> QM_LAB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2922E963-6108-F24B-05A6-1988C13D62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847" y="1585746"/>
            <a:ext cx="6182354" cy="3267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09915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AFDC6A-5AC4-B5E1-E03D-D924A989F8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2050" y="150812"/>
            <a:ext cx="10515600" cy="1325563"/>
          </a:xfrm>
        </p:spPr>
        <p:txBody>
          <a:bodyPr/>
          <a:lstStyle/>
          <a:p>
            <a:pPr algn="ctr"/>
            <a:r>
              <a:rPr lang="es-MX" dirty="0"/>
              <a:t>Creación de la primera </a:t>
            </a:r>
            <a:r>
              <a:rPr lang="es-MX" dirty="0" err="1"/>
              <a:t>Queue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264478C-EFFA-5AC2-6F2F-370453E4C9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6925" y="1485900"/>
            <a:ext cx="6172200" cy="4700588"/>
          </a:xfrm>
        </p:spPr>
        <p:txBody>
          <a:bodyPr>
            <a:normAutofit fontScale="92500" lnSpcReduction="10000"/>
          </a:bodyPr>
          <a:lstStyle/>
          <a:p>
            <a:r>
              <a:rPr lang="es-MX" dirty="0"/>
              <a:t>Escribimos el siguiente comando </a:t>
            </a:r>
            <a:r>
              <a:rPr lang="es-MX" dirty="0" err="1"/>
              <a:t>runmqsc</a:t>
            </a:r>
            <a:r>
              <a:rPr lang="es-MX" dirty="0"/>
              <a:t> QM_LAB</a:t>
            </a:r>
          </a:p>
          <a:p>
            <a:r>
              <a:rPr lang="es-MX" dirty="0"/>
              <a:t>cuando aparezca el </a:t>
            </a:r>
            <a:r>
              <a:rPr lang="es-MX" dirty="0" err="1"/>
              <a:t>prompt</a:t>
            </a:r>
            <a:r>
              <a:rPr lang="es-MX" dirty="0"/>
              <a:t> de MQSC escribimos el siguiente comando  DEFINE QLOCAL(COLA_PRESTAMOS)</a:t>
            </a:r>
          </a:p>
          <a:p>
            <a:r>
              <a:rPr lang="es-MX" dirty="0"/>
              <a:t>Debería aparecer algo parecido a: </a:t>
            </a:r>
          </a:p>
          <a:p>
            <a:pPr marL="0" indent="0">
              <a:buNone/>
            </a:pPr>
            <a:r>
              <a:rPr lang="es-MX" dirty="0"/>
              <a:t>    AMQ8006I: IBM MQ </a:t>
            </a:r>
            <a:r>
              <a:rPr lang="es-MX" dirty="0" err="1"/>
              <a:t>queue</a:t>
            </a:r>
            <a:r>
              <a:rPr lang="es-MX" dirty="0"/>
              <a:t> </a:t>
            </a:r>
            <a:r>
              <a:rPr lang="es-MX" dirty="0" err="1"/>
              <a:t>created</a:t>
            </a:r>
            <a:r>
              <a:rPr lang="es-MX" dirty="0"/>
              <a:t>.</a:t>
            </a:r>
          </a:p>
          <a:p>
            <a:pPr marL="0" indent="0">
              <a:buNone/>
            </a:pPr>
            <a:r>
              <a:rPr lang="es-MX" dirty="0"/>
              <a:t> Ahora ejecutaremos el comando  DISPLAY QLOCAL(COLA_PRESTAMOS) para verificar que existe.</a:t>
            </a:r>
          </a:p>
          <a:p>
            <a:pPr marL="0" indent="0">
              <a:buNone/>
            </a:pPr>
            <a:r>
              <a:rPr lang="es-MX" dirty="0"/>
              <a:t>Y finalmente: </a:t>
            </a:r>
          </a:p>
          <a:p>
            <a:pPr marL="0" indent="0">
              <a:buNone/>
            </a:pPr>
            <a:r>
              <a:rPr lang="es-MX" dirty="0"/>
              <a:t>END para salir.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59DF306E-0DC2-B5C7-06F3-3F01B4D8E0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350" y="1371600"/>
            <a:ext cx="4754068" cy="4362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329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41A348-5E6C-1388-C8CF-E441EE445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MX" dirty="0"/>
              <a:t>Puerto utilizado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C029340-533C-3493-08EB-31502743C9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s-MX" dirty="0"/>
              <a:t>IBM MQ utiliza tradicionalmente el puerto TCP 1414 como puerto predeterminado para la comunicación entre aplicaciones cliente y el </a:t>
            </a:r>
            <a:r>
              <a:rPr lang="es-MX" dirty="0" err="1"/>
              <a:t>Queue</a:t>
            </a:r>
            <a:r>
              <a:rPr lang="es-MX" dirty="0"/>
              <a:t> Manager. Este puerto fue definido por IBM como estándar para los servicios de mensajería MQ, permitiendo que aplicaciones externas envíen y reciban mensajes a través de la red utilizando protocolos TCP/IP.</a:t>
            </a:r>
          </a:p>
        </p:txBody>
      </p:sp>
    </p:spTree>
    <p:extLst>
      <p:ext uri="{BB962C8B-B14F-4D97-AF65-F5344CB8AC3E}">
        <p14:creationId xmlns:p14="http://schemas.microsoft.com/office/powerpoint/2010/main" val="1799951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E0BDE36F-CEDF-6D19-F466-96F2345BA53C}"/>
              </a:ext>
            </a:extLst>
          </p:cNvPr>
          <p:cNvSpPr/>
          <p:nvPr/>
        </p:nvSpPr>
        <p:spPr>
          <a:xfrm>
            <a:off x="2164080" y="301752"/>
            <a:ext cx="7863840" cy="1261872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 err="1"/>
              <a:t>Github</a:t>
            </a:r>
            <a:endParaRPr lang="es-MX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0EAC404-163F-6289-6B87-1F9021A7A6F1}"/>
              </a:ext>
            </a:extLst>
          </p:cNvPr>
          <p:cNvSpPr txBox="1"/>
          <p:nvPr/>
        </p:nvSpPr>
        <p:spPr>
          <a:xfrm>
            <a:off x="1126236" y="3059668"/>
            <a:ext cx="9939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/>
              <a:t>https://github.com/mxvengance-debug/sistema-gestion-laboratorio</a:t>
            </a:r>
          </a:p>
        </p:txBody>
      </p:sp>
    </p:spTree>
    <p:extLst>
      <p:ext uri="{BB962C8B-B14F-4D97-AF65-F5344CB8AC3E}">
        <p14:creationId xmlns:p14="http://schemas.microsoft.com/office/powerpoint/2010/main" val="86286502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</TotalTime>
  <Words>1002</Words>
  <Application>Microsoft Office PowerPoint</Application>
  <PresentationFormat>Panorámica</PresentationFormat>
  <Paragraphs>87</Paragraphs>
  <Slides>25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25</vt:i4>
      </vt:variant>
    </vt:vector>
  </HeadingPairs>
  <TitlesOfParts>
    <vt:vector size="29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CARACTERISTICAS</vt:lpstr>
      <vt:lpstr>CARACTERISTICAS</vt:lpstr>
      <vt:lpstr>REQUISITOS HARDWARE</vt:lpstr>
      <vt:lpstr>Instalación </vt:lpstr>
      <vt:lpstr>Verificar que se haya instalado correctamente</vt:lpstr>
      <vt:lpstr>Instalar IBM MQ Downloads for developers</vt:lpstr>
      <vt:lpstr>Seleccionar que el dispositivo no pertenece a un dominio de windows</vt:lpstr>
      <vt:lpstr>Verificar el estado de preinstalación, si no marca error lanzar el instalador de IBM MQ</vt:lpstr>
      <vt:lpstr>Configuración de IBM  MQ </vt:lpstr>
      <vt:lpstr>Configuración de la red</vt:lpstr>
      <vt:lpstr>Completamos el asistente de preparación</vt:lpstr>
      <vt:lpstr>Aceptamos los término de acuerdos de licencia </vt:lpstr>
      <vt:lpstr>Instalamos el IBM MQ</vt:lpstr>
      <vt:lpstr>Abrimos CMD y ejecutamos “dspmqver”</vt:lpstr>
      <vt:lpstr>Creación de la  Queue Manager</vt:lpstr>
      <vt:lpstr>iniciar el Queue Manager</vt:lpstr>
      <vt:lpstr>Creación de la primera Queue</vt:lpstr>
      <vt:lpstr>Puerto utilizado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Octavio Rojas Cervantes</dc:creator>
  <cp:lastModifiedBy>Octavio Rojas Cervantes</cp:lastModifiedBy>
  <cp:revision>3</cp:revision>
  <dcterms:created xsi:type="dcterms:W3CDTF">2026-06-19T05:19:04Z</dcterms:created>
  <dcterms:modified xsi:type="dcterms:W3CDTF">2026-06-19T19:21:32Z</dcterms:modified>
</cp:coreProperties>
</file>