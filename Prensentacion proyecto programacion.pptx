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71" r:id="rId4"/>
    <p:sldId id="261" r:id="rId5"/>
    <p:sldId id="262" r:id="rId6"/>
    <p:sldId id="263" r:id="rId7"/>
    <p:sldId id="264" r:id="rId8"/>
    <p:sldId id="265" r:id="rId9"/>
    <p:sldId id="259" r:id="rId10"/>
    <p:sldId id="260" r:id="rId11"/>
    <p:sldId id="272" r:id="rId12"/>
    <p:sldId id="266" r:id="rId13"/>
    <p:sldId id="267" r:id="rId14"/>
    <p:sldId id="268" r:id="rId15"/>
    <p:sldId id="269" r:id="rId16"/>
    <p:sldId id="270" r:id="rId17"/>
    <p:sldId id="273" r:id="rId1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F59243-FC33-2885-F20B-98D919367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1A51F4-820E-FE7A-4B2B-07DE154A9A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43153D-3755-049A-5567-32B20A579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5ED9F-1E34-4040-9509-C1B79D1CADFB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291A26-326C-6BDF-5AC9-2D1153C3E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2DFAAF-0FF8-84DE-4E40-A123DF970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5F4E-DA5B-449C-80D7-F689B57FA5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4426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1063A1-C1B3-E79A-2598-4D173D9D5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2E54ED-E535-5689-ED95-DD0DD188D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DEF865-46E6-7BD0-8AAB-9125079C2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5ED9F-1E34-4040-9509-C1B79D1CADFB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A8F238-62E8-6FB6-95BF-6395FBB77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AF2E90-85D5-4528-8102-07F5F252E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5F4E-DA5B-449C-80D7-F689B57FA5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305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FB7C8E-69CD-2701-BF8F-98165E96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799EB9-56D4-F277-5D44-E1E6FF1BB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D791A9-34A8-1589-6826-6777FF82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5ED9F-1E34-4040-9509-C1B79D1CADFB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DE54A8-52AE-980C-2F86-80E6AA107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08BCE5-D3DC-03A3-CCCD-28E856714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5F4E-DA5B-449C-80D7-F689B57FA5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9613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72A4F0-1E23-46B2-C811-618FA0B4F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DF2FA0-5229-7609-8582-F91A716F2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065118-D7F3-4D7A-9BA5-530835072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04A3F9-90AF-8ABD-A564-7ADD6B2B8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5ED9F-1E34-4040-9509-C1B79D1CADFB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AD5401-56E2-87C4-53EA-DBD999EA3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0D09CC-AED1-D93F-2898-3BBFDE013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5F4E-DA5B-449C-80D7-F689B57FA5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1605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3EA2B-95D3-5A88-E158-7817BA324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A33260-2825-6651-51FA-5A42465FB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508DEB0-570F-02C2-4283-9704A787A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48C96E2-2BBF-A645-8C65-C47B8B0BBF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CBC085F-6332-FCC3-33FB-8274C29F7B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462E02C-BA74-B704-0787-708EADAB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5ED9F-1E34-4040-9509-C1B79D1CADFB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FA7D16D-E490-8367-D597-1690BF195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BEDBA2-CB4F-E1B9-794C-F59034971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5F4E-DA5B-449C-80D7-F689B57FA5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9316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B8AAE-D8AF-E38F-72B0-68C837239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A33B67-CC1E-07CD-A267-6BE0C2B75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5ED9F-1E34-4040-9509-C1B79D1CADFB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79223B7-4E88-2E6B-1AC8-6785F71A2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B68F976-3854-5E04-5C3B-E287D997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5F4E-DA5B-449C-80D7-F689B57FA5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0180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42A9E6D-9F15-6614-9652-7E8EE1574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5ED9F-1E34-4040-9509-C1B79D1CADFB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8F074DE-F637-C6E3-5C33-C6A4AE3A9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C4AD0BB-8353-D0AB-76AB-F517F7129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5F4E-DA5B-449C-80D7-F689B57FA5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8689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366A34-CA6C-753C-D2D7-FEFBA1967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886D21-3490-A176-86FB-2CE1EDB8E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A65FFB-601D-C8D9-7D2D-2EA696D11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3850D5-345D-DDD0-0D81-F13256669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5ED9F-1E34-4040-9509-C1B79D1CADFB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345984-C004-D9A4-D85B-F5C6BCB78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32BB07-862A-3FCB-C6BA-DFF409EEF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5F4E-DA5B-449C-80D7-F689B57FA5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3625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C04F25-4F11-FC31-56E6-B28BB06BA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383BB6C-C663-0387-A5E6-1144558224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E85A622-D50C-7D15-B6C4-9800A4C6B9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5395DA-EEF9-C8DE-CDA3-D424D5664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5ED9F-1E34-4040-9509-C1B79D1CADFB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CD6A574-AC7E-7C96-EDDE-F5FD33233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4A554B-4055-816D-5008-AF1939749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5F4E-DA5B-449C-80D7-F689B57FA5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76083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47B0D-154A-8591-2FD8-DC5EC2A8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2220570-692B-9195-67CF-0807F58C0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2FBE43-8870-2986-1C2F-D6DA5585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5ED9F-1E34-4040-9509-C1B79D1CADFB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6DDB6B-5A15-262A-1241-7ACBE7A0C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727C9B-B8C9-1D7A-5112-BA2CBB845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5F4E-DA5B-449C-80D7-F689B57FA5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5114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21DFDD7-5BA0-43A5-A872-480D2113BB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1B2D279-518B-9C37-5802-8F56CE5B7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14F69F-8187-1701-294B-806D5DC07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5ED9F-1E34-4040-9509-C1B79D1CADFB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685EE4-6860-A961-7621-DC53031C6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43EBB8-B526-D865-E2B1-4E587FB8F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5F4E-DA5B-449C-80D7-F689B57FA5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8907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5E5698B-2901-F2B4-2C5E-8B5CA08AB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01171C-5D7B-1D08-D288-9CA436305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F8F520-147C-F228-6325-209684F65A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15ED9F-1E34-4040-9509-C1B79D1CADFB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72B27B-275E-864E-0D13-05D291656D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B2C010-7631-4C45-E10C-BBEF90386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845F4E-DA5B-449C-80D7-F689B57FA5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82326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56D08AA-DD6A-034A-F96B-30711A52D207}"/>
              </a:ext>
            </a:extLst>
          </p:cNvPr>
          <p:cNvSpPr txBox="1"/>
          <p:nvPr/>
        </p:nvSpPr>
        <p:spPr>
          <a:xfrm>
            <a:off x="3048762" y="2570946"/>
            <a:ext cx="60944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Sistema Web de Gestión de Componentes de Laboratorio</a:t>
            </a:r>
            <a:endParaRPr lang="es-MX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2292" name="Picture 4" descr="Instituto Politécnico Nacional IPN. Institución de Orgullo Nacional.">
            <a:extLst>
              <a:ext uri="{FF2B5EF4-FFF2-40B4-BE49-F238E27FC236}">
                <a16:creationId xmlns:a16="http://schemas.microsoft.com/office/drawing/2014/main" id="{C43BB5D1-5A13-CE46-B51A-0B9032CA2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" y="0"/>
            <a:ext cx="1120975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Consejeros de Computación de ESIME Culhuacan (@consejerosESIMEIC) • Facebook">
            <a:extLst>
              <a:ext uri="{FF2B5EF4-FFF2-40B4-BE49-F238E27FC236}">
                <a16:creationId xmlns:a16="http://schemas.microsoft.com/office/drawing/2014/main" id="{293A2A62-6C27-FB34-8B4D-480A76851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3317" y="0"/>
            <a:ext cx="166867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0502748-6BCB-BD8C-44CF-0383ED82DC40}"/>
              </a:ext>
            </a:extLst>
          </p:cNvPr>
          <p:cNvSpPr txBox="1"/>
          <p:nvPr/>
        </p:nvSpPr>
        <p:spPr>
          <a:xfrm>
            <a:off x="-20858" y="5934670"/>
            <a:ext cx="10544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Rojas Cervantes Octavio</a:t>
            </a:r>
          </a:p>
          <a:p>
            <a:r>
              <a:rPr lang="es-MX" dirty="0"/>
              <a:t>Trujano Ramos Arturo</a:t>
            </a:r>
          </a:p>
          <a:p>
            <a:r>
              <a:rPr lang="es-MX" dirty="0"/>
              <a:t>Davila Maya Azarel Jahdai</a:t>
            </a:r>
          </a:p>
        </p:txBody>
      </p:sp>
    </p:spTree>
    <p:extLst>
      <p:ext uri="{BB962C8B-B14F-4D97-AF65-F5344CB8AC3E}">
        <p14:creationId xmlns:p14="http://schemas.microsoft.com/office/powerpoint/2010/main" val="2369656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74CEF0B-4125-6094-FCE0-93FB2123A2EC}"/>
              </a:ext>
            </a:extLst>
          </p:cNvPr>
          <p:cNvSpPr txBox="1"/>
          <p:nvPr/>
        </p:nvSpPr>
        <p:spPr>
          <a:xfrm>
            <a:off x="0" y="12801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dirty="0"/>
              <a:t>Justificación y objetivo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8EAE76C-8336-D655-A13D-BC974DFB1FC9}"/>
              </a:ext>
            </a:extLst>
          </p:cNvPr>
          <p:cNvSpPr txBox="1"/>
          <p:nvPr/>
        </p:nvSpPr>
        <p:spPr>
          <a:xfrm>
            <a:off x="740664" y="1737360"/>
            <a:ext cx="5138928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Para los estudiantes, la gestión eficiente del tiempo es fundamental; la pérdida de unos pocos minutos puede afectar significativamente el desarrollo y conclusión de una práctica. Aunque la digitalización ha optimizado procesos en áreas como bibliotecas y otros centros de investigación, la Escuela Superior de Ingeniería Mecánica y Eléctrica (ESIME) Unidad Culhuacán aún requiere modernizar la administración de sus laboratorios.</a:t>
            </a:r>
          </a:p>
          <a:p>
            <a:pPr algn="just"/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Implementar un sistema digital para el préstamo de componentes no solo reduciría los tiempos de espera de los alumnos, sino que también dotaría a los encargados de una herramienta precisa para el control de inventario, permitiéndoles conocer en tiempo real las unidades disponibles, el material faltante y el equipo que se encuentra fuera de servicio.</a:t>
            </a:r>
          </a:p>
        </p:txBody>
      </p:sp>
      <p:pic>
        <p:nvPicPr>
          <p:cNvPr id="6146" name="Picture 2" descr="La ESIME Culhuacan inició la primera fase de regreso a clases híbridas con  prácticas en los laboratorios de los cuatro programas académicos que  imparte: Mecánica, Comunicaciones y Electrónica, Computación y Sistemas  Automotrices.">
            <a:extLst>
              <a:ext uri="{FF2B5EF4-FFF2-40B4-BE49-F238E27FC236}">
                <a16:creationId xmlns:a16="http://schemas.microsoft.com/office/drawing/2014/main" id="{712EF535-CF6E-3A72-D3F0-F0FCFF51E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4701" y="2247906"/>
            <a:ext cx="3828860" cy="254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0251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9577792-0F86-B0D1-56AA-475E80B5744D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dirty="0"/>
              <a:t>Instalación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975A3E0-7AA8-1569-90EE-79F1F4D4BEAA}"/>
              </a:ext>
            </a:extLst>
          </p:cNvPr>
          <p:cNvSpPr txBox="1"/>
          <p:nvPr/>
        </p:nvSpPr>
        <p:spPr>
          <a:xfrm>
            <a:off x="0" y="584775"/>
            <a:ext cx="6094476" cy="2498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Instalación de SQL Server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Descargar Microsoft SQL Server. 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Ejecutar el instalador. 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Instalar el motor de base de datos. 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Configurar autenticación de Windows. 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Verificar que el servicio SQL Server esté activo. 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2438EBF-CF4B-3871-44B7-236D6BC2FA77}"/>
              </a:ext>
            </a:extLst>
          </p:cNvPr>
          <p:cNvSpPr txBox="1"/>
          <p:nvPr/>
        </p:nvSpPr>
        <p:spPr>
          <a:xfrm>
            <a:off x="0" y="3579848"/>
            <a:ext cx="6117336" cy="207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Instalación de SQL Server Management Studio (SSMS)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Descargar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SQL Server Management Studio. 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Ejecutar el instalador. 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Instalar normalmente. 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Conectarse al servidor local utilizando: localhost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314" name="Picture 2" descr="Novedades en SQL Server 2025">
            <a:extLst>
              <a:ext uri="{FF2B5EF4-FFF2-40B4-BE49-F238E27FC236}">
                <a16:creationId xmlns:a16="http://schemas.microsoft.com/office/drawing/2014/main" id="{2322CDF0-D07C-22AF-47A9-6A9983F74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5968" y="933963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SQL Server Management Studio (SSMS)">
            <a:extLst>
              <a:ext uri="{FF2B5EF4-FFF2-40B4-BE49-F238E27FC236}">
                <a16:creationId xmlns:a16="http://schemas.microsoft.com/office/drawing/2014/main" id="{3692A49B-8771-A083-89DD-D7347D475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9496" y="3718465"/>
            <a:ext cx="1852943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3905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3FF2627-E364-3123-9E4A-9085BC442F7A}"/>
              </a:ext>
            </a:extLst>
          </p:cNvPr>
          <p:cNvSpPr txBox="1"/>
          <p:nvPr/>
        </p:nvSpPr>
        <p:spPr>
          <a:xfrm>
            <a:off x="0" y="17145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/>
              <a:t>Requisitos de sistema (Hardware)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5EFFC80-3CF6-5A93-6FB5-05A1A176E199}"/>
              </a:ext>
            </a:extLst>
          </p:cNvPr>
          <p:cNvSpPr txBox="1"/>
          <p:nvPr/>
        </p:nvSpPr>
        <p:spPr>
          <a:xfrm>
            <a:off x="176022" y="1693332"/>
            <a:ext cx="5173218" cy="3471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Equipo Cliente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 usuario deberá contar con un equipo con las siguientes características mínimas: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Procesador Intel Core i3 o superior.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Memoria RAM mínima de 4 GB.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Monitor con resolución mínima de 1366x768.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Conexión a internet o red local.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03F1AD4-737F-891D-3EAB-B1A1051D059F}"/>
              </a:ext>
            </a:extLst>
          </p:cNvPr>
          <p:cNvSpPr txBox="1"/>
          <p:nvPr/>
        </p:nvSpPr>
        <p:spPr>
          <a:xfrm>
            <a:off x="6842760" y="1693332"/>
            <a:ext cx="5173218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Equipo Servidor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Para el correcto funcionamiento del sistema web y la base de datos se recomienda: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Procesador Intel Core i5 o superior.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Memoria RAM mínima de 8 GB.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Unidad SSD para mejorar el rendimiento.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Espacio disponible mínimo de 20 GB.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MX" sz="180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Tarjeta de red Ethernet o </a:t>
            </a:r>
            <a:r>
              <a:rPr lang="es-MX" sz="1800" dirty="0" err="1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Wi</a:t>
            </a:r>
            <a:r>
              <a:rPr lang="es-MX" sz="180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-Fi.</a:t>
            </a:r>
            <a:endParaRPr lang="es-MX" dirty="0"/>
          </a:p>
        </p:txBody>
      </p:sp>
      <p:pic>
        <p:nvPicPr>
          <p:cNvPr id="7170" name="Picture 2" descr="Hardware de la computadora - Iconos gratis de computadora">
            <a:extLst>
              <a:ext uri="{FF2B5EF4-FFF2-40B4-BE49-F238E27FC236}">
                <a16:creationId xmlns:a16="http://schemas.microsoft.com/office/drawing/2014/main" id="{4BD80F9D-2566-4CF6-2798-6DEB19846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400550"/>
            <a:ext cx="262890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6102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E908B2-4156-130C-694F-8DAD25797689}"/>
              </a:ext>
            </a:extLst>
          </p:cNvPr>
          <p:cNvSpPr txBox="1"/>
          <p:nvPr/>
        </p:nvSpPr>
        <p:spPr>
          <a:xfrm>
            <a:off x="0" y="17145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/>
              <a:t>Requisitos de sistema (Software)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51587DF-4895-A79E-5C70-76F843A9C741}"/>
              </a:ext>
            </a:extLst>
          </p:cNvPr>
          <p:cNvSpPr txBox="1"/>
          <p:nvPr/>
        </p:nvSpPr>
        <p:spPr>
          <a:xfrm>
            <a:off x="276606" y="916196"/>
            <a:ext cx="4807458" cy="502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Sistema Operativo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Windows 10 o Windows 11 de 64 bits.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Herramientas de Desarrollo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SQL Server 2025 </a:t>
            </a:r>
            <a:r>
              <a:rPr lang="es-MX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Developer</a:t>
            </a: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MX" sz="18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Edition</a:t>
            </a: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SQL Server Management Studio (SSMS).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XAMPP Control Panel.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PHP 8.2.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Apache Web Server.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Navegador web Google Chrome, Microsoft Edge o Mozilla Firefox.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8B22BAB-511B-E9FE-30FF-0B8F383ECE78}"/>
              </a:ext>
            </a:extLst>
          </p:cNvPr>
          <p:cNvSpPr txBox="1"/>
          <p:nvPr/>
        </p:nvSpPr>
        <p:spPr>
          <a:xfrm>
            <a:off x="7107938" y="1123945"/>
            <a:ext cx="6094476" cy="4610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Tecnologías Utilizadas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Frontend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HTML5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CSS3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JavaScript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Backend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PHP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Base de Datos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SQL Server 2025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Desarrollador de software - Iconos gratis de computadora">
            <a:extLst>
              <a:ext uri="{FF2B5EF4-FFF2-40B4-BE49-F238E27FC236}">
                <a16:creationId xmlns:a16="http://schemas.microsoft.com/office/drawing/2014/main" id="{9B6800E2-5547-FCB2-A248-EEB45E31D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75" y="4810125"/>
            <a:ext cx="2047875" cy="204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5673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A3A44A9-F4B9-A22C-CCA5-8C0D7422C382}"/>
              </a:ext>
            </a:extLst>
          </p:cNvPr>
          <p:cNvSpPr txBox="1"/>
          <p:nvPr/>
        </p:nvSpPr>
        <p:spPr>
          <a:xfrm>
            <a:off x="276606" y="2211423"/>
            <a:ext cx="6094476" cy="1917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Puerto 80 habilitado para Apache.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Conectividad local para acceso a la base de datos SQL Server.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Permisos de lectura y escritura en el servidor web.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4DAA90-28F4-1EC5-618D-E1B1478400C9}"/>
              </a:ext>
            </a:extLst>
          </p:cNvPr>
          <p:cNvSpPr txBox="1"/>
          <p:nvPr/>
        </p:nvSpPr>
        <p:spPr>
          <a:xfrm>
            <a:off x="0" y="160500"/>
            <a:ext cx="12192000" cy="75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32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Requisitos de Red</a:t>
            </a:r>
            <a:endParaRPr lang="es-MX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Red - Iconos gratis de computadora">
            <a:extLst>
              <a:ext uri="{FF2B5EF4-FFF2-40B4-BE49-F238E27FC236}">
                <a16:creationId xmlns:a16="http://schemas.microsoft.com/office/drawing/2014/main" id="{BEED3007-4D22-6F3C-D201-F051DC469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175" y="182880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315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3648415-26F6-1F30-717B-FEF7699418CA}"/>
              </a:ext>
            </a:extLst>
          </p:cNvPr>
          <p:cNvSpPr txBox="1"/>
          <p:nvPr/>
        </p:nvSpPr>
        <p:spPr>
          <a:xfrm>
            <a:off x="596646" y="1382991"/>
            <a:ext cx="6094476" cy="4092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 sistema deberá permitir: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Inicio de sesión de usuarios.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Gestión de componentes de laboratorio.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Registro de préstamos.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Registro de devoluciones.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Consulta de inventario.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Administración de usuarios.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Consulta de historial de préstamos y mantenimientos.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747BCD-5534-936A-3C19-2B95365CA0DA}"/>
              </a:ext>
            </a:extLst>
          </p:cNvPr>
          <p:cNvSpPr txBox="1"/>
          <p:nvPr/>
        </p:nvSpPr>
        <p:spPr>
          <a:xfrm>
            <a:off x="0" y="197076"/>
            <a:ext cx="12192000" cy="75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32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Requisitos Funcionales</a:t>
            </a:r>
            <a:endParaRPr lang="es-MX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42" name="Picture 2" descr="Iniciar sesión - Iconos gratis de seguridad">
            <a:extLst>
              <a:ext uri="{FF2B5EF4-FFF2-40B4-BE49-F238E27FC236}">
                <a16:creationId xmlns:a16="http://schemas.microsoft.com/office/drawing/2014/main" id="{F0A064B4-C5DB-FFDE-8BFB-6292AA50A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3850" y="1919287"/>
            <a:ext cx="3019425" cy="301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848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AF6322A-5785-6A37-6905-70BB07155A54}"/>
              </a:ext>
            </a:extLst>
          </p:cNvPr>
          <p:cNvSpPr txBox="1"/>
          <p:nvPr/>
        </p:nvSpPr>
        <p:spPr>
          <a:xfrm>
            <a:off x="432054" y="1226538"/>
            <a:ext cx="6094476" cy="3886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 sistema deberá ser fácil de usar.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interfaz deberá ser intuitiva.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 sistema deberá responder en menos de 3 segundos.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información deberá almacenarse de forma segura.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 sistema deberá mantener la integridad de los datos.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 sistema deberá ser compatible con navegadores modernos.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4B0DB7-9CF5-45CF-A949-C6CF495DA211}"/>
              </a:ext>
            </a:extLst>
          </p:cNvPr>
          <p:cNvSpPr txBox="1"/>
          <p:nvPr/>
        </p:nvSpPr>
        <p:spPr>
          <a:xfrm>
            <a:off x="0" y="142212"/>
            <a:ext cx="12192000" cy="75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32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Requisitos No Funcionales</a:t>
            </a:r>
            <a:endParaRPr lang="es-MX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266" name="Picture 2" descr="Los requerimientos no funcionales en desarrollo de software">
            <a:extLst>
              <a:ext uri="{FF2B5EF4-FFF2-40B4-BE49-F238E27FC236}">
                <a16:creationId xmlns:a16="http://schemas.microsoft.com/office/drawing/2014/main" id="{94DA3012-8DF5-6FE4-B782-E79367FBD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25" y="1618456"/>
            <a:ext cx="4345304" cy="3621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3672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AC2E07D-9129-4EB7-5F51-5B7E80E243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412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E1C8B92-A8D4-6AFB-F80A-8AEB8902F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887" y="652389"/>
            <a:ext cx="9420225" cy="555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520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D877676-1105-6D80-0DF8-8F17C36502B5}"/>
              </a:ext>
            </a:extLst>
          </p:cNvPr>
          <p:cNvSpPr txBox="1"/>
          <p:nvPr/>
        </p:nvSpPr>
        <p:spPr>
          <a:xfrm>
            <a:off x="349758" y="1468463"/>
            <a:ext cx="6094476" cy="3499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Abrir</a:t>
            </a:r>
            <a:r>
              <a:rPr lang="en-US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SQL Server Management Studio. 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MX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Crear una nueva base de datos llamada: </a:t>
            </a:r>
            <a:r>
              <a:rPr lang="es-MX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LaboratorioDB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Ejecutar el script SQL del proyecto.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Verificar la creación de: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Tablas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Relaciones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MX" sz="180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Registros</a:t>
            </a:r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D8671D1-5E06-7138-BF30-915FA1DC0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531" y="809624"/>
            <a:ext cx="3095625" cy="523875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B8AF5D0-6A25-EED7-3098-7403E7D423BB}"/>
              </a:ext>
            </a:extLst>
          </p:cNvPr>
          <p:cNvSpPr txBox="1"/>
          <p:nvPr/>
        </p:nvSpPr>
        <p:spPr>
          <a:xfrm>
            <a:off x="0" y="0"/>
            <a:ext cx="12192000" cy="626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3200" b="1" kern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Creación de la Base de Datos</a:t>
            </a:r>
            <a:endParaRPr lang="es-MX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569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B708F49-DF07-B039-23ED-4453EF718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369815"/>
              </p:ext>
            </p:extLst>
          </p:nvPr>
        </p:nvGraphicFramePr>
        <p:xfrm>
          <a:off x="779272" y="1915287"/>
          <a:ext cx="5605780" cy="30274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1445">
                  <a:extLst>
                    <a:ext uri="{9D8B030D-6E8A-4147-A177-3AD203B41FA5}">
                      <a16:colId xmlns:a16="http://schemas.microsoft.com/office/drawing/2014/main" val="674402838"/>
                    </a:ext>
                  </a:extLst>
                </a:gridCol>
                <a:gridCol w="1401445">
                  <a:extLst>
                    <a:ext uri="{9D8B030D-6E8A-4147-A177-3AD203B41FA5}">
                      <a16:colId xmlns:a16="http://schemas.microsoft.com/office/drawing/2014/main" val="969451954"/>
                    </a:ext>
                  </a:extLst>
                </a:gridCol>
                <a:gridCol w="1401445">
                  <a:extLst>
                    <a:ext uri="{9D8B030D-6E8A-4147-A177-3AD203B41FA5}">
                      <a16:colId xmlns:a16="http://schemas.microsoft.com/office/drawing/2014/main" val="461648172"/>
                    </a:ext>
                  </a:extLst>
                </a:gridCol>
                <a:gridCol w="1401445">
                  <a:extLst>
                    <a:ext uri="{9D8B030D-6E8A-4147-A177-3AD203B41FA5}">
                      <a16:colId xmlns:a16="http://schemas.microsoft.com/office/drawing/2014/main" val="1116294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Campo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Tipo de Dato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Llave /Regla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Descripción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560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 dirty="0" err="1">
                          <a:effectLst/>
                        </a:rPr>
                        <a:t>IdUsuario</a:t>
                      </a:r>
                      <a:endParaRPr lang="es-MX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INT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PK (Identity 1,1)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Identificador único del usuario (Autoincrementa)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4033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Nombre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VARCHAR(100)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NOT NULL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Nombre completo del usuario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5635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Correo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VARCHAR(100)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UNIQUE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Correo electrónico, usado para iniciar sesión. No se puede repetir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4759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Password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VARCHAR(100)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NULL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Contraseña de acceso 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3864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Rol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VARCHAR(20)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NULL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 dirty="0">
                          <a:effectLst/>
                        </a:rPr>
                        <a:t>Define los permisos del usuario ('Administrador', 'Estudiante').</a:t>
                      </a:r>
                      <a:endParaRPr lang="es-MX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9170554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9A306C30-C8BD-79BE-3A6F-7DCE5FEA2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3217" y="-63785"/>
            <a:ext cx="278557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Tabla </a:t>
            </a:r>
            <a:r>
              <a:rPr kumimoji="0" lang="es-MX" altLang="es-MX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Usuarios</a:t>
            </a:r>
            <a:endParaRPr kumimoji="0" lang="es-MX" altLang="es-MX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1D1A6C-B8AA-354D-9724-0D1CA56A6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6016" y="2273956"/>
            <a:ext cx="3006779" cy="231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208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F493E3C-F160-C8D2-0FF5-8C51D8CA5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325704"/>
              </p:ext>
            </p:extLst>
          </p:nvPr>
        </p:nvGraphicFramePr>
        <p:xfrm>
          <a:off x="383413" y="2468467"/>
          <a:ext cx="5605780" cy="20634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1445">
                  <a:extLst>
                    <a:ext uri="{9D8B030D-6E8A-4147-A177-3AD203B41FA5}">
                      <a16:colId xmlns:a16="http://schemas.microsoft.com/office/drawing/2014/main" val="1495564683"/>
                    </a:ext>
                  </a:extLst>
                </a:gridCol>
                <a:gridCol w="1401445">
                  <a:extLst>
                    <a:ext uri="{9D8B030D-6E8A-4147-A177-3AD203B41FA5}">
                      <a16:colId xmlns:a16="http://schemas.microsoft.com/office/drawing/2014/main" val="3092522102"/>
                    </a:ext>
                  </a:extLst>
                </a:gridCol>
                <a:gridCol w="1401445">
                  <a:extLst>
                    <a:ext uri="{9D8B030D-6E8A-4147-A177-3AD203B41FA5}">
                      <a16:colId xmlns:a16="http://schemas.microsoft.com/office/drawing/2014/main" val="2034524865"/>
                    </a:ext>
                  </a:extLst>
                </a:gridCol>
                <a:gridCol w="1401445">
                  <a:extLst>
                    <a:ext uri="{9D8B030D-6E8A-4147-A177-3AD203B41FA5}">
                      <a16:colId xmlns:a16="http://schemas.microsoft.com/office/drawing/2014/main" val="18784715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Campo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Tipo de Dato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Llave/Regla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Descripción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8397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IdComponente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INT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PK (Identity 1,1)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Identificador único del componente (Autoincrementa)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1447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Nombre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VARCHAR(100)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NOT NULL 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Nombre del material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037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Categoria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VARCHAR(50)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NULL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 dirty="0">
                          <a:effectLst/>
                        </a:rPr>
                        <a:t>Categoría del material</a:t>
                      </a:r>
                      <a:endParaRPr lang="es-MX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3651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CantidadDisponible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INT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NULL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Número de unidades en existencia para préstamo.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88862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Estado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VARCHAR(20)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NULL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 dirty="0">
                          <a:effectLst/>
                        </a:rPr>
                        <a:t>Condición</a:t>
                      </a:r>
                      <a:endParaRPr lang="es-MX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551968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E19ACAC2-1269-02F4-5429-51AEF80D2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2145" y="-63785"/>
            <a:ext cx="382771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Tabla Componentes</a:t>
            </a:r>
            <a:endParaRPr kumimoji="0" lang="es-MX" altLang="es-MX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4B1CF7C-61EF-47ED-570C-F9C879FB1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9860" y="2540089"/>
            <a:ext cx="2366129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83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F70F157D-F18C-8BAC-0401-901C8EBFBB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873969"/>
              </p:ext>
            </p:extLst>
          </p:nvPr>
        </p:nvGraphicFramePr>
        <p:xfrm>
          <a:off x="490219" y="2103310"/>
          <a:ext cx="5605780" cy="26513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1445">
                  <a:extLst>
                    <a:ext uri="{9D8B030D-6E8A-4147-A177-3AD203B41FA5}">
                      <a16:colId xmlns:a16="http://schemas.microsoft.com/office/drawing/2014/main" val="221270063"/>
                    </a:ext>
                  </a:extLst>
                </a:gridCol>
                <a:gridCol w="1401445">
                  <a:extLst>
                    <a:ext uri="{9D8B030D-6E8A-4147-A177-3AD203B41FA5}">
                      <a16:colId xmlns:a16="http://schemas.microsoft.com/office/drawing/2014/main" val="2725942450"/>
                    </a:ext>
                  </a:extLst>
                </a:gridCol>
                <a:gridCol w="1401445">
                  <a:extLst>
                    <a:ext uri="{9D8B030D-6E8A-4147-A177-3AD203B41FA5}">
                      <a16:colId xmlns:a16="http://schemas.microsoft.com/office/drawing/2014/main" val="2247655764"/>
                    </a:ext>
                  </a:extLst>
                </a:gridCol>
                <a:gridCol w="1401445">
                  <a:extLst>
                    <a:ext uri="{9D8B030D-6E8A-4147-A177-3AD203B41FA5}">
                      <a16:colId xmlns:a16="http://schemas.microsoft.com/office/drawing/2014/main" val="19460003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Campo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Tipo de Dato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Llave/Regla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 dirty="0">
                          <a:effectLst/>
                        </a:rPr>
                        <a:t>Descripción</a:t>
                      </a:r>
                      <a:endParaRPr lang="es-MX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971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IdDetalle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INT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PK (Identity 1,1)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Identificador único de la partida o fila (Autoincremental).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7907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 dirty="0" err="1">
                          <a:effectLst/>
                        </a:rPr>
                        <a:t>IdPrestamo</a:t>
                      </a:r>
                      <a:endParaRPr lang="es-MX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INT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FK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Llave foránea conectada a Prestamos(IdPrestamo)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3474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IdComponente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INT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FK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Llave foránea conectada a Componentes(IdComponente)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7314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Cantidad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INT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NULL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 dirty="0">
                          <a:effectLst/>
                        </a:rPr>
                        <a:t>Número de piezas prestadas</a:t>
                      </a:r>
                      <a:endParaRPr lang="es-MX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032623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BBC0F708-7F63-0AB9-313F-E7BF94A91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2496" y="-63785"/>
            <a:ext cx="430701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Tabla </a:t>
            </a:r>
            <a:r>
              <a:rPr kumimoji="0" lang="es-MX" altLang="es-MX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DetallePrestamo</a:t>
            </a:r>
            <a:endParaRPr kumimoji="0" lang="es-MX" altLang="es-MX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0E11A5-3F92-16D8-0E42-BDCDB979B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461" y="2528999"/>
            <a:ext cx="2451715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77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DD2A7C1-C2ED-3E0B-61B4-BAC182987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567010"/>
              </p:ext>
            </p:extLst>
          </p:nvPr>
        </p:nvGraphicFramePr>
        <p:xfrm>
          <a:off x="490220" y="2199703"/>
          <a:ext cx="5605780" cy="24585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1445">
                  <a:extLst>
                    <a:ext uri="{9D8B030D-6E8A-4147-A177-3AD203B41FA5}">
                      <a16:colId xmlns:a16="http://schemas.microsoft.com/office/drawing/2014/main" val="2573781017"/>
                    </a:ext>
                  </a:extLst>
                </a:gridCol>
                <a:gridCol w="1401445">
                  <a:extLst>
                    <a:ext uri="{9D8B030D-6E8A-4147-A177-3AD203B41FA5}">
                      <a16:colId xmlns:a16="http://schemas.microsoft.com/office/drawing/2014/main" val="3456580745"/>
                    </a:ext>
                  </a:extLst>
                </a:gridCol>
                <a:gridCol w="1401445">
                  <a:extLst>
                    <a:ext uri="{9D8B030D-6E8A-4147-A177-3AD203B41FA5}">
                      <a16:colId xmlns:a16="http://schemas.microsoft.com/office/drawing/2014/main" val="1116117011"/>
                    </a:ext>
                  </a:extLst>
                </a:gridCol>
                <a:gridCol w="1401445">
                  <a:extLst>
                    <a:ext uri="{9D8B030D-6E8A-4147-A177-3AD203B41FA5}">
                      <a16:colId xmlns:a16="http://schemas.microsoft.com/office/drawing/2014/main" val="42156905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Campo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Tipo de Dato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Llave/Regla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Descripción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0085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IdDevolucion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INT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PK (Identity 1,1)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Folio único del registro de devolución (Autoincrementa)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4118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 dirty="0" err="1">
                          <a:effectLst/>
                        </a:rPr>
                        <a:t>IdPrestamo</a:t>
                      </a:r>
                      <a:endParaRPr lang="es-MX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 dirty="0">
                          <a:effectLst/>
                        </a:rPr>
                        <a:t>INT</a:t>
                      </a:r>
                      <a:endParaRPr lang="es-MX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FK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Llave foránea conectada a Prestamos(IdPrestamo)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7362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FechaDevolucion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DATE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NULL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Fecha exacta en la que el usuario entregó el equipo.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7522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Observaciones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VARCHAR(200)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NULL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 dirty="0">
                          <a:effectLst/>
                        </a:rPr>
                        <a:t>Notas adicionales</a:t>
                      </a:r>
                      <a:endParaRPr lang="es-MX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6516192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A1FED4F0-3E86-E4F6-086A-74ED753FF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7029" y="-126428"/>
            <a:ext cx="373794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Tabla Devoluciones</a:t>
            </a:r>
            <a:endParaRPr kumimoji="0" lang="es-MX" altLang="es-MX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9E3439D-1556-67A8-B5C4-1443C14CB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3" y="2540251"/>
            <a:ext cx="2542104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78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B98B63BC-B9B0-8BEF-E139-C210DE5FA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10827"/>
              </p:ext>
            </p:extLst>
          </p:nvPr>
        </p:nvGraphicFramePr>
        <p:xfrm>
          <a:off x="490220" y="2103310"/>
          <a:ext cx="5605780" cy="26513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1445">
                  <a:extLst>
                    <a:ext uri="{9D8B030D-6E8A-4147-A177-3AD203B41FA5}">
                      <a16:colId xmlns:a16="http://schemas.microsoft.com/office/drawing/2014/main" val="323369284"/>
                    </a:ext>
                  </a:extLst>
                </a:gridCol>
                <a:gridCol w="1401445">
                  <a:extLst>
                    <a:ext uri="{9D8B030D-6E8A-4147-A177-3AD203B41FA5}">
                      <a16:colId xmlns:a16="http://schemas.microsoft.com/office/drawing/2014/main" val="1275733211"/>
                    </a:ext>
                  </a:extLst>
                </a:gridCol>
                <a:gridCol w="1401445">
                  <a:extLst>
                    <a:ext uri="{9D8B030D-6E8A-4147-A177-3AD203B41FA5}">
                      <a16:colId xmlns:a16="http://schemas.microsoft.com/office/drawing/2014/main" val="1488336510"/>
                    </a:ext>
                  </a:extLst>
                </a:gridCol>
                <a:gridCol w="1401445">
                  <a:extLst>
                    <a:ext uri="{9D8B030D-6E8A-4147-A177-3AD203B41FA5}">
                      <a16:colId xmlns:a16="http://schemas.microsoft.com/office/drawing/2014/main" val="28490953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Campo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Tipo de Dato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Llave/Regla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Descripción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7775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IdMantenimiento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INT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PK (Identity 1,1)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Folio único del registro de servicio (Autoincrementa)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6275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IdComponente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INT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 dirty="0">
                          <a:effectLst/>
                        </a:rPr>
                        <a:t>FK</a:t>
                      </a:r>
                      <a:endParaRPr lang="es-MX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Llave foránea conectada a Componentes(IdComponente)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5119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Fecha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DATE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NULL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Día en el que se realizó el mantenimiento o diagnóstico.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7507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Descripción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VARCHAR(200)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>
                          <a:effectLst/>
                        </a:rPr>
                        <a:t>NULL</a:t>
                      </a:r>
                      <a:endParaRPr lang="es-MX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100" kern="100" dirty="0">
                          <a:effectLst/>
                        </a:rPr>
                        <a:t>Detalle técnico de la reparación realizada </a:t>
                      </a:r>
                      <a:endParaRPr lang="es-MX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5458801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DD66977E-5541-54CF-4942-31C4B534B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3785"/>
            <a:ext cx="12192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Tabla Mantenimiento</a:t>
            </a:r>
            <a:endParaRPr kumimoji="0" lang="es-MX" altLang="es-MX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3BE5DC6-3DF7-E4AF-E8E2-EDD90EB65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831" y="2528999"/>
            <a:ext cx="2733957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694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6D7FCFD-A557-FC9B-856E-75E5EC6188C4}"/>
              </a:ext>
            </a:extLst>
          </p:cNvPr>
          <p:cNvSpPr txBox="1"/>
          <p:nvPr/>
        </p:nvSpPr>
        <p:spPr>
          <a:xfrm>
            <a:off x="2700996" y="3059668"/>
            <a:ext cx="7642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https://github.com/mxvengance-debug/sistema-gestion-laboratorio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88B55C-91E8-4321-9836-C9E99405D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6896"/>
            <a:ext cx="1219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24730408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874</Words>
  <Application>Microsoft Office PowerPoint</Application>
  <PresentationFormat>Panorámica</PresentationFormat>
  <Paragraphs>196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Symbol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Octavio Rojas Cervantes</dc:creator>
  <cp:lastModifiedBy>Octavio Rojas Cervantes</cp:lastModifiedBy>
  <cp:revision>4</cp:revision>
  <dcterms:created xsi:type="dcterms:W3CDTF">2026-06-03T18:20:43Z</dcterms:created>
  <dcterms:modified xsi:type="dcterms:W3CDTF">2026-06-05T21:07:02Z</dcterms:modified>
</cp:coreProperties>
</file>